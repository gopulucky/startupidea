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5ca79a2dbc4885" /><Relationship Type="http://schemas.openxmlformats.org/officeDocument/2006/relationships/extended-properties" Target="/docProps/app.xml" Id="R1da1e0ae63db4782" /><Relationship Type="http://schemas.openxmlformats.org/officeDocument/2006/relationships/officeDocument" Target="/ppt/presentation.xml" Id="R3581161d163d4f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c5f8e334034ebc"/>
  </p:sldMasterIdLst>
  <p:notesMasterIdLst>
    <p:notesMasterId xmlns:r="http://schemas.openxmlformats.org/officeDocument/2006/relationships" r:id="R1fbd3e37297c47c1"/>
  </p:notesMasterIdLst>
  <p:sldIdLst>
    <p:sldId xmlns:r="http://schemas.openxmlformats.org/officeDocument/2006/relationships" id="256" r:id="Rc6cdd61d323a4f7c"/>
    <p:sldId xmlns:r="http://schemas.openxmlformats.org/officeDocument/2006/relationships" id="257" r:id="R1009d2e88eea4a4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5292d311a54ce5" /><Relationship Type="http://schemas.openxmlformats.org/officeDocument/2006/relationships/slideMaster" Target="/ppt/slideMasters/slideMaster1.xml" Id="Redc5f8e334034ebc" /><Relationship Type="http://schemas.openxmlformats.org/officeDocument/2006/relationships/notesMaster" Target="/ppt/notesMasters/notesMaster1.xml" Id="R1fbd3e37297c47c1" /><Relationship Type="http://schemas.openxmlformats.org/officeDocument/2006/relationships/presProps" Target="/ppt/presProps.xml" Id="Rda7f163ed3a54673" /><Relationship Type="http://schemas.openxmlformats.org/officeDocument/2006/relationships/tableStyles" Target="/ppt/tableStyles.xml" Id="R1f60d83388af41a8" /><Relationship Type="http://schemas.openxmlformats.org/officeDocument/2006/relationships/slide" Target="/ppt/slides/slide1.xml" Id="Rc6cdd61d323a4f7c" /><Relationship Type="http://schemas.openxmlformats.org/officeDocument/2006/relationships/slide" Target="/ppt/slides/slide2.xml" Id="R1009d2e88eea4a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142421bf554f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d7348b03a94642" /><Relationship Type="http://schemas.openxmlformats.org/officeDocument/2006/relationships/notesMaster" Target="/ppt/notesMasters/notesMaster1.xml" Id="R1c78b8f793c34ed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2fcf46945c4444" /><Relationship Type="http://schemas.openxmlformats.org/officeDocument/2006/relationships/notesMaster" Target="/ppt/notesMasters/notesMaster1.xml" Id="R8c4ba0f1bf764d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optimized_v1/run_report.json; optimized_v1/verification_report.json; optimized_v1/preflight.json; optimized_v1/capture_quality.json.</a:t>
            </a:r>
          </a:p>
          <a:p xmlns:a="http://schemas.openxmlformats.org/drawingml/2006/main">
            <a:r>
              <a:t>Input image: SIH26158_HF_Drone_Full253_AB_Colab (1).ipynb, cell 5.</a:t>
            </a:r>
          </a:p>
          <a:p xmlns:a="http://schemas.openxmlformats.org/drawingml/2006/main">
            <a:r>
              <a:t>DSM image: the same notebook, cell 8. Geometry diagnostics: the same notebook, cell 7.</a:t>
            </a:r>
          </a:p>
          <a:p xmlns:a="http://schemas.openxmlformats.org/drawingml/2006/main">
            <a:r>
              <a:t>Runtime evidence: the archived run_report.json records 28.81 minutes for all 253 frames. The project team reports a 15-minute run after reducing the processed frame count. Historical baseline: 80.75 minutes.</a:t>
            </a:r>
          </a:p>
          <a:p xmlns:a="http://schemas.openxmlformats.org/drawingml/2006/main">
            <a:r>
              <a:t>The archive reports no surveyed checkpoints or independent reference surface, so the one-metre surface target remains unevaluated.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slide follows the supplied impact-slide structure while retaining the project's navy and teal visual system.</a:t>
            </a:r>
          </a:p>
          <a:p xmlns:a="http://schemas.openxmlformats.org/drawingml/2006/main">
            <a:r>
              <a:t>DSM image: SIH26158_HF_Drone_Optimization_1088_Colab.ipynb, optimized candidate DSM output.</a:t>
            </a:r>
          </a:p>
          <a:p xmlns:a="http://schemas.openxmlformats.org/drawingml/2006/main">
            <a:r>
              <a:t>The archived run_report.json records 28.81 minutes for all 253 frames. The project team reports a 15-minute run after reducing the processed frame count.</a:t>
            </a:r>
          </a:p>
          <a:p xmlns:a="http://schemas.openxmlformats.org/drawingml/2006/main">
            <a:r>
              <a:t>Target-user and impact statements describe intended operational use. They are not measured cost savings, response-time improvements or deployment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c390900c4142d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e7f4d39db5f4cbe" /><Relationship Type="http://schemas.openxmlformats.org/officeDocument/2006/relationships/slideLayout" Target="/ppt/slideLayouts/slideLayout1.xml" Id="Redad9b556a3746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ad9b556a3746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e76324676644da" /><Relationship Type="http://schemas.openxmlformats.org/officeDocument/2006/relationships/image" Target="/ppt/media/image.png" Id="Rcca2c0a07aca40ea" /><Relationship Type="http://schemas.openxmlformats.org/officeDocument/2006/relationships/image" Target="/ppt/media/image2.png" Id="Rc9aac25344fc4640" /><Relationship Type="http://schemas.openxmlformats.org/officeDocument/2006/relationships/chart" Target="/ppt/slides/charts/chart1.xml" Id="R3a3cde37dedc44f1" /><Relationship Type="http://schemas.openxmlformats.org/officeDocument/2006/relationships/image" Target="/ppt/media/image3.png" Id="R360125bac66043f3" /><Relationship Type="http://schemas.openxmlformats.org/officeDocument/2006/relationships/notesSlide" Target="/ppt/notesSlides/notesSlide1.xml" Id="R31820ad79e0049f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2f0c5861dc4027" /><Relationship Type="http://schemas.openxmlformats.org/officeDocument/2006/relationships/image" Target="/ppt/media/image4.png" Id="Rbe540dbf714a4027" /><Relationship Type="http://schemas.openxmlformats.org/officeDocument/2006/relationships/notesSlide" Target="/ppt/notesSlides/notesSlide2.xml" Id="R74c6335337804084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Minutes</c:v>
          </c:tx>
          <c:spPr>
            <a:solidFill xmlns:a="http://schemas.openxmlformats.org/drawingml/2006/main">
              <a:srgbClr val="94B9D3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A9C4D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0EA5A0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D88412"/>
              </a:solidFill>
            </c:spPr>
          </c:dPt>
          <c:cat>
            <c:strLit>
              <c:ptCount val="3"/>
              <c:pt idx="0">
                <c:v>Historical</c:v>
              </c:pt>
              <c:pt idx="1">
                <c:v>253 frames</c:v>
              </c:pt>
              <c:pt idx="2">
                <c:v>Reduced frames</c:v>
              </c:pt>
            </c:strLit>
          </c:cat>
          <c:val>
            <c:numLit>
              <c:formatCode>0.00</c:formatCode>
              <c:ptCount val="3"/>
              <c:pt idx="0">
                <c:v>80.75</c:v>
              </c:pt>
              <c:pt idx="1">
                <c:v>28.81</c:v>
              </c:pt>
              <c:pt idx="2">
                <c:v>15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72636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5DF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5DF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9FC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7F9FC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7B5A540-E1C3-49E5-A571-3AB0802C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923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2636"/>
                </a:solidFill>
                <a:latin typeface="Arial"/>
                <a:ea typeface="Arial"/>
                <a:cs typeface="Arial"/>
              </a:rPr>
              <a:t>Feasibility proof from completed drone-video runs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586F32-66CB-49B0-A2C3-61AB8A3D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85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SIH26158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0CB588-B715-4C36-B912-22F1BA3C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742950"/>
            <a:ext cx="11468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697ADF-63C8-4BE6-A92D-636E4177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914400"/>
            <a:ext cx="19050" cy="527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FB8A41-77D2-45F8-8C72-02D237A6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495675"/>
            <a:ext cx="11468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AB5472-C571-4D32-B028-3C4063923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5250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2B3B7C-BBE6-48B3-BF1A-2CEEAA10A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345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INPUT CAPTURE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a2c0a07aca40ea"/>
          <a:srcRect xmlns:a="http://schemas.openxmlformats.org/drawingml/2006/main" l="0" t="19524" r="0" b="195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" y="1295400"/>
            <a:ext cx="5381625" cy="17526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A4443B-64D9-46C3-8D76-382DAB30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48000"/>
            <a:ext cx="5381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C26BB3-2518-402C-8C01-FF3D3CA9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12420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4.19-minute flight     253 keyframes     2,525 telemetry samples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EAB14A-D61F-4995-A02D-25F751BE4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95250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F61C38-1B6D-4F01-B9AB-3F6E1BCD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93345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OUTPUT PRODUCTS</a:t>
            </a:r>
          </a:p>
        </p:txBody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aac25344fc4640"/>
          <a:stretch xmlns:a="http://schemas.openxmlformats.org/drawingml/2006/main"/>
        </p:blipFill>
        <p:spPr>
          <a:xfrm xmlns:a="http://schemas.openxmlformats.org/drawingml/2006/main">
            <a:off x="6661197" y="1285875"/>
            <a:ext cx="1822356" cy="20574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995F3C-51F1-4AE0-A670-65B57563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3525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6AA9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6AA9"/>
                </a:solidFill>
                <a:latin typeface="Arial"/>
                <a:ea typeface="Arial"/>
                <a:cs typeface="Arial"/>
              </a:rPr>
              <a:t>604,982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B7E56E-B861-4F54-8393-6EBA74D0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847850"/>
            <a:ext cx="2095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3687B"/>
                </a:solidFill>
                <a:latin typeface="Arial"/>
                <a:ea typeface="Arial"/>
                <a:cs typeface="Arial"/>
              </a:rPr>
              <a:t>COLOURED POINTS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2C40F1-98F3-4444-8854-C3753A72C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431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636"/>
                </a:solidFill>
                <a:latin typeface="Arial"/>
                <a:ea typeface="Arial"/>
                <a:cs typeface="Arial"/>
              </a:rPr>
              <a:t>361,510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4C7623-9770-4DEB-AD5F-F018D879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4317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3687B"/>
                </a:solidFill>
                <a:latin typeface="Arial"/>
                <a:ea typeface="Arial"/>
                <a:cs typeface="Arial"/>
              </a:rPr>
              <a:t>MESH FACES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D38B05-564A-4FEA-9164-FE59E037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956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845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845C"/>
                </a:solidFill>
                <a:latin typeface="Arial"/>
                <a:ea typeface="Arial"/>
                <a:cs typeface="Arial"/>
              </a:rPr>
              <a:t>GLB, LAS and GeoTIFF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0B9A6B-F211-4E3A-8E51-42EF245D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52775"/>
            <a:ext cx="2381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EPSG:32610    DSM 0.5 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BA5F6B-B5DE-401C-A665-23655C523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1475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53A074-1333-4189-A53E-3DF4B2766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9570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RUNTIME PROOF</a:t>
            </a:r>
          </a:p>
        </p:txBody>
      </p:sp>
      <p:graphicFrame>
        <p:nvGraphicFramePr>
          <p:cNvPr id="63" name="Chart"/>
          <p:cNvGraphicFramePr/>
          <p:nvPr/>
        </p:nvGraphicFramePr>
        <p:xfrm>
          <a:off xmlns:a="http://schemas.openxmlformats.org/drawingml/2006/main" x="361950" y="4057650"/>
          <a:ext xmlns:a="http://schemas.openxmlformats.org/drawingml/2006/main" cx="4076700" cy="2019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a3cde37dedc44f1"/>
          </a:graphicData>
        </a:graphic>
      </p:graphicFrame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C3933F-E163-4B8F-A1C8-A03298342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0" y="457200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3687B"/>
                </a:solidFill>
                <a:latin typeface="Arial"/>
                <a:ea typeface="Arial"/>
                <a:cs typeface="Arial"/>
              </a:rPr>
              <a:t>Processing mode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875898-A0CB-4B4C-A0AF-69C0866C9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953125"/>
            <a:ext cx="1809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3687B"/>
                </a:solidFill>
                <a:latin typeface="Arial"/>
                <a:ea typeface="Arial"/>
                <a:cs typeface="Arial"/>
              </a:rPr>
              <a:t>Runtime (minutes)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80DF50-B6C2-4625-8671-9B2FE3A9D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171950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15 min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C964D7-FBFE-4AE6-A6DB-BCDE5021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67250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3687B"/>
                </a:solidFill>
                <a:latin typeface="Arial"/>
                <a:ea typeface="Arial"/>
                <a:cs typeface="Arial"/>
              </a:rPr>
              <a:t>reduced frames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3F6616-4740-457F-8BC5-C074BA120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87680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845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4845C"/>
                </a:solidFill>
                <a:latin typeface="Arial"/>
                <a:ea typeface="Arial"/>
                <a:cs typeface="Arial"/>
              </a:rPr>
              <a:t>target achieved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86777F-B262-46C4-AF16-17F74D52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314950"/>
            <a:ext cx="1257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636"/>
                </a:solidFill>
                <a:latin typeface="Arial"/>
                <a:ea typeface="Arial"/>
                <a:cs typeface="Arial"/>
              </a:rPr>
              <a:t>28.81 min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8AA10C-4F2F-4309-9019-1BAD6CC55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629275"/>
            <a:ext cx="1123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all 253 frames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1560A7-A97E-4796-B23C-1ADC56153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71475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27584A-37D0-4B73-8216-A5A1AF6C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69570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QUALITY EVIDENCE</a:t>
            </a:r>
          </a:p>
        </p:txBody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0125bac66043f3"/>
          <a:stretch xmlns:a="http://schemas.openxmlformats.org/drawingml/2006/main"/>
        </p:blipFill>
        <p:spPr>
          <a:xfrm xmlns:a="http://schemas.openxmlformats.org/drawingml/2006/main">
            <a:off x="6493454" y="4067175"/>
            <a:ext cx="3205591" cy="19621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18BBCFB-AE32-4D1D-B911-108FDE97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133850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845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845C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35A06D-AC9A-465E-A7A0-B59F28225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4291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capture screen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F4A5960-FA7F-44BA-A7E5-0A3B4DB53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810125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6AA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6AA9"/>
                </a:solidFill>
                <a:latin typeface="Arial"/>
                <a:ea typeface="Arial"/>
                <a:cs typeface="Arial"/>
              </a:rPr>
              <a:t>0.458 px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7BCE039-3529-4749-A6C0-EEE8E168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1054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reprojection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D726B01-7B37-43F7-956C-73616311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486400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846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4646"/>
                </a:solidFill>
                <a:latin typeface="Arial"/>
                <a:ea typeface="Arial"/>
                <a:cs typeface="Arial"/>
              </a:rPr>
              <a:t>81.82%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56F0629-D77D-4A49-B97C-18B309F0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7816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registered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55F6FD5-4411-45AC-B65E-70928F35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286500"/>
            <a:ext cx="1146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FA60D23-6527-483F-BE1C-29513425F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912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8841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88412"/>
                </a:solidFill>
                <a:latin typeface="Arial"/>
                <a:ea typeface="Arial"/>
                <a:cs typeface="Arial"/>
              </a:rPr>
              <a:t>Accuracy proof pending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EC7F79E-D9C3-4EC2-BC18-55356EA9D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6391275"/>
            <a:ext cx="899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636"/>
                </a:solidFill>
                <a:latin typeface="Arial"/>
                <a:ea typeface="Arial"/>
                <a:cs typeface="Arial"/>
              </a:rPr>
              <a:t>Independent checkpoint RMSE has not been evaluated. GPS camera RMSE cannot prove the one-metre surface target.</a:t>
            </a:r>
          </a:p>
        </p:txBody>
      </p:sp>
    </p:spTree>
    <p:extLst>
      <p:ext uri="{BB962C8B-B14F-4D97-AF65-F5344CB8AC3E}">
        <p14:creationId xmlns:p14="http://schemas.microsoft.com/office/powerpoint/2010/main" val="1380368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66A138-458F-44E7-8C3D-0C116BC0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2636"/>
                </a:solidFill>
                <a:latin typeface="Arial"/>
                <a:ea typeface="Arial"/>
                <a:cs typeface="Arial"/>
              </a:rPr>
              <a:t>Benefits and impact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CE3895-E95B-4B09-904B-E23C76D2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85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SIH26158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73C4F2-3AC4-4019-8FF5-81DA56234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742950"/>
            <a:ext cx="11468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3BDF54-BF13-47FB-AE73-AE745F27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914400"/>
            <a:ext cx="19050" cy="556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B9B54B-6FB3-47E8-B8DF-BFF16621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524250"/>
            <a:ext cx="561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1181D2-A2EB-43D3-9A70-CBE14287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524250"/>
            <a:ext cx="584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C1C23D-BA7E-4086-9BDD-4F0B1F67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DIRECT IMPACT ON TARGET USERS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F96825-CF7E-437C-9EFA-206D20C42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81125"/>
            <a:ext cx="509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AA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6AA9"/>
                </a:solidFill>
                <a:latin typeface="Arial"/>
                <a:ea typeface="Arial"/>
                <a:cs typeface="Arial"/>
              </a:rPr>
              <a:t>Survey and GIS teams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CDF4FD-0F57-4E8F-8F15-7B23FEC3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47825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636"/>
                </a:solidFill>
                <a:latin typeface="Arial"/>
                <a:ea typeface="Arial"/>
                <a:cs typeface="Arial"/>
              </a:rPr>
              <a:t>3D model and DSM from one drone flight.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715E81-A404-43BE-8A73-90CA9495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57400"/>
            <a:ext cx="509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AA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6AA9"/>
                </a:solidFill>
                <a:latin typeface="Arial"/>
                <a:ea typeface="Arial"/>
                <a:cs typeface="Arial"/>
              </a:rPr>
              <a:t>Infrastructure teams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70403F-38E6-44A9-9C0E-70DC88BCD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24100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636"/>
                </a:solidFill>
                <a:latin typeface="Arial"/>
                <a:ea typeface="Arial"/>
                <a:cs typeface="Arial"/>
              </a:rPr>
              <a:t>Inspect difficult terrain before field deployment.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344E2D-6A72-4748-B997-FCC2C9CE8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33675"/>
            <a:ext cx="509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AA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6AA9"/>
                </a:solidFill>
                <a:latin typeface="Arial"/>
                <a:ea typeface="Arial"/>
                <a:cs typeface="Arial"/>
              </a:rPr>
              <a:t>Emergency response teams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E60A78-5320-4BCF-B17F-DF373E01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00375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636"/>
                </a:solidFill>
                <a:latin typeface="Arial"/>
                <a:ea typeface="Arial"/>
                <a:cs typeface="Arial"/>
              </a:rPr>
              <a:t>15-minute mode supports rapid site assessment.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FF9F25-F6B0-4B3B-9138-03E701E1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814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STRATEGIC IMPACT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63D3F5-ABCB-4F7A-9778-7B8B7842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00525"/>
            <a:ext cx="509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Local geospatial capability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2D86FC-8CCD-4F77-B5DF-9A40FEA43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67225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636"/>
                </a:solidFill>
                <a:latin typeface="Arial"/>
                <a:ea typeface="Arial"/>
                <a:cs typeface="Arial"/>
              </a:rPr>
              <a:t>Open pipeline, reports and standard outputs.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284CFE-D8F2-433A-8C4E-33CB6660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76800"/>
            <a:ext cx="509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Shared operational picture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65E131-EEB0-4E88-BDD7-2C341C11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0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636"/>
                </a:solidFill>
                <a:latin typeface="Arial"/>
                <a:ea typeface="Arial"/>
                <a:cs typeface="Arial"/>
              </a:rPr>
              <a:t>GIS, 3D and browser-ready data.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C6C8DA-4D1F-44CF-A249-CDD7493E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53075"/>
            <a:ext cx="509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Scales with each mission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5641B7-FD79-478C-AFA3-4C8D2052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19775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636"/>
                </a:solidFill>
                <a:latin typeface="Arial"/>
                <a:ea typeface="Arial"/>
                <a:cs typeface="Arial"/>
              </a:rPr>
              <a:t>Rapid mode or full 253-frame reconstruction.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B06C9B-DC62-4757-AF5F-99845FD79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62025"/>
            <a:ext cx="528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ECONOMIC AND OPERATIONAL BENEFITS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AB651A-8331-4F74-9D60-50A2F736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381125"/>
            <a:ext cx="509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845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845C"/>
                </a:solidFill>
                <a:latin typeface="Arial"/>
                <a:ea typeface="Arial"/>
                <a:cs typeface="Arial"/>
              </a:rPr>
              <a:t>Lower survey overhead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11B6C8-D230-4908-99C4-1E3511310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47825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636"/>
                </a:solidFill>
                <a:latin typeface="Arial"/>
                <a:ea typeface="Arial"/>
                <a:cs typeface="Arial"/>
              </a:rPr>
              <a:t>Reuse existing drone video and telemetry.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86ABEF-B46C-47BC-A294-978CC834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57400"/>
            <a:ext cx="509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845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845C"/>
                </a:solidFill>
                <a:latin typeface="Arial"/>
                <a:ea typeface="Arial"/>
                <a:cs typeface="Arial"/>
              </a:rPr>
              <a:t>Faster turnaround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B5D049-B9F5-42C2-A9AC-AF5E4A10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24100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636"/>
                </a:solidFill>
                <a:latin typeface="Arial"/>
                <a:ea typeface="Arial"/>
                <a:cs typeface="Arial"/>
              </a:rPr>
              <a:t>15 min rapid mode, 28.81 min full run.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9CCA7B-7AD8-4F0D-A68C-CFE490959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33675"/>
            <a:ext cx="509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845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845C"/>
                </a:solidFill>
                <a:latin typeface="Arial"/>
                <a:ea typeface="Arial"/>
                <a:cs typeface="Arial"/>
              </a:rPr>
              <a:t>Reduced tool lock-in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EAC70C-95F4-4396-A4B3-430F6AE4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00375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636"/>
                </a:solidFill>
                <a:latin typeface="Arial"/>
                <a:ea typeface="Arial"/>
                <a:cs typeface="Arial"/>
              </a:rPr>
              <a:t>GLB, LAS and GeoTIFF remain portable.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549D70-FFB0-4600-974D-CC69E128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33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REUSABLE GIS OUTPUT</a:t>
            </a:r>
          </a:p>
        </p:txBody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540dbf714a4027"/>
          <a:stretch xmlns:a="http://schemas.openxmlformats.org/drawingml/2006/main"/>
        </p:blipFill>
        <p:spPr>
          <a:xfrm xmlns:a="http://schemas.openxmlformats.org/drawingml/2006/main">
            <a:off x="7890317" y="3962400"/>
            <a:ext cx="2031117" cy="230505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9FDEC7-E0A7-4ADF-988F-7AF3CBBF8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720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AA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6AA9"/>
                </a:solidFill>
                <a:latin typeface="Arial"/>
                <a:ea typeface="Arial"/>
                <a:cs typeface="Arial"/>
              </a:rPr>
              <a:t>DSM 0.5 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EC059B-0D83-421E-90AE-62B54F72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8577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EPSG:32610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0E9B07-F559-42A4-809D-5241DA376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3054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845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845C"/>
                </a:solidFill>
                <a:latin typeface="Arial"/>
                <a:ea typeface="Arial"/>
                <a:cs typeface="Arial"/>
              </a:rPr>
              <a:t>Ready for GIS</a:t>
            </a:r>
          </a:p>
        </p:txBody>
      </p:sp>
    </p:spTree>
    <p:extLst>
      <p:ext uri="{BB962C8B-B14F-4D97-AF65-F5344CB8AC3E}">
        <p14:creationId xmlns:p14="http://schemas.microsoft.com/office/powerpoint/2010/main" val="10443017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2026-09-15T06:09:10.3380000Z</dcterms:created>
  <dcterms:modified xsi:type="dcterms:W3CDTF">2026-09-15T06:09:10.3380000Z</dcterms:modified>
</coreProperties>
</file>
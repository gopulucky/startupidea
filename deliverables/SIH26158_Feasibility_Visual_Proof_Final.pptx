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b6d47ffdf74948" /><Relationship Type="http://schemas.openxmlformats.org/officeDocument/2006/relationships/extended-properties" Target="/docProps/app.xml" Id="Rcea20d2c42aa4b90" /><Relationship Type="http://schemas.openxmlformats.org/officeDocument/2006/relationships/officeDocument" Target="/ppt/presentation.xml" Id="R00c0ec6e224342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8e867806fd45ae"/>
  </p:sldMasterIdLst>
  <p:notesMasterIdLst>
    <p:notesMasterId xmlns:r="http://schemas.openxmlformats.org/officeDocument/2006/relationships" r:id="Rbd3daaf006b447cb"/>
  </p:notesMasterIdLst>
  <p:sldIdLst>
    <p:sldId xmlns:r="http://schemas.openxmlformats.org/officeDocument/2006/relationships" id="256" r:id="R8ea9445d239f48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7797a9224e4e37" /><Relationship Type="http://schemas.openxmlformats.org/officeDocument/2006/relationships/slideMaster" Target="/ppt/slideMasters/slideMaster1.xml" Id="Rc18e867806fd45ae" /><Relationship Type="http://schemas.openxmlformats.org/officeDocument/2006/relationships/notesMaster" Target="/ppt/notesMasters/notesMaster1.xml" Id="Rbd3daaf006b447cb" /><Relationship Type="http://schemas.openxmlformats.org/officeDocument/2006/relationships/presProps" Target="/ppt/presProps.xml" Id="R0aa94cb199f343ce" /><Relationship Type="http://schemas.openxmlformats.org/officeDocument/2006/relationships/tableStyles" Target="/ppt/tableStyles.xml" Id="R667cd0b892c548ad" /><Relationship Type="http://schemas.openxmlformats.org/officeDocument/2006/relationships/slide" Target="/ppt/slides/slide1.xml" Id="R8ea9445d239f48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bb9f89c8ac4b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5ffe69864141d0" /><Relationship Type="http://schemas.openxmlformats.org/officeDocument/2006/relationships/notesMaster" Target="/ppt/notesMasters/notesMaster1.xml" Id="Ra7f4a8c655da48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optimized_v1/run_report.json; optimized_v1/verification_report.json; optimized_v1/preflight.json; optimized_v1/capture_quality.json.</a:t>
            </a:r>
          </a:p>
          <a:p xmlns:a="http://schemas.openxmlformats.org/drawingml/2006/main">
            <a:r>
              <a:t>Input image: SIH26158_HF_Drone_Full253_AB_Colab (1).ipynb, cell 5.</a:t>
            </a:r>
          </a:p>
          <a:p xmlns:a="http://schemas.openxmlformats.org/drawingml/2006/main">
            <a:r>
              <a:t>DSM image: the same notebook, cell 8. Geometry diagnostics: the same notebook, cell 7.</a:t>
            </a:r>
          </a:p>
          <a:p xmlns:a="http://schemas.openxmlformats.org/drawingml/2006/main">
            <a:r>
              <a:t>Documented runtime values: 80.75-minute historical run, 28.81-minute latest archived wall-clock run, and 15-minute target.</a:t>
            </a:r>
          </a:p>
          <a:p xmlns:a="http://schemas.openxmlformats.org/drawingml/2006/main">
            <a:r>
              <a:t>The archive reports no surveyed checkpoints or independent reference surface, so the one-metre surface target remains unevaluated.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c6d1a357f446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bed0ce5851407a" /><Relationship Type="http://schemas.openxmlformats.org/officeDocument/2006/relationships/slideLayout" Target="/ppt/slideLayouts/slideLayout1.xml" Id="Rb35b50804c9b40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5b50804c9b40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4d685efdd414d" /><Relationship Type="http://schemas.openxmlformats.org/officeDocument/2006/relationships/image" Target="/ppt/media/image.png" Id="R205c157087c04425" /><Relationship Type="http://schemas.openxmlformats.org/officeDocument/2006/relationships/image" Target="/ppt/media/image2.png" Id="R693a6358cab248f1" /><Relationship Type="http://schemas.openxmlformats.org/officeDocument/2006/relationships/chart" Target="/ppt/slides/charts/chart1.xml" Id="R54a6949cb74b4221" /><Relationship Type="http://schemas.openxmlformats.org/officeDocument/2006/relationships/image" Target="/ppt/media/image3.png" Id="R1867e2e748c7463b" /><Relationship Type="http://schemas.openxmlformats.org/officeDocument/2006/relationships/notesSlide" Target="/ppt/notesSlides/notesSlide1.xml" Id="R1d87b4ea6671410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Minutes</c:v>
          </c:tx>
          <c:spPr>
            <a:solidFill xmlns:a="http://schemas.openxmlformats.org/drawingml/2006/main">
              <a:srgbClr val="94B9D3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A9C4D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EA5A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D88412"/>
              </a:solidFill>
            </c:spPr>
          </c:dPt>
          <c:cat>
            <c:strLit>
              <c:ptCount val="3"/>
              <c:pt idx="0">
                <c:v>Historical</c:v>
              </c:pt>
              <c:pt idx="1">
                <c:v>Latest run</c:v>
              </c:pt>
              <c:pt idx="2">
                <c:v>15-min target</c:v>
              </c:pt>
            </c:strLit>
          </c:cat>
          <c:val>
            <c:numLit>
              <c:formatCode>0.00</c:formatCode>
              <c:ptCount val="3"/>
              <c:pt idx="0">
                <c:v>80.75</c:v>
              </c:pt>
              <c:pt idx="1">
                <c:v>28.81</c:v>
              </c:pt>
              <c:pt idx="2">
                <c:v>15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7263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5DF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5DF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9FC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7F9FC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3B641B-F949-48B8-87AC-C52584A1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923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Feasibility proof from a completed drone-video 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8FD84-F232-41E5-AF53-BA43FF10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5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SIH26158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72BBE-5CCD-415D-9E0E-30D5A63D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42950"/>
            <a:ext cx="1146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C913B7-0EEA-4709-97A9-9B57824D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914400"/>
            <a:ext cx="19050" cy="527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7C00A-9F35-4069-B15B-4A3C8FB1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495675"/>
            <a:ext cx="1146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D42F4-AF65-4E57-9CC3-7285362F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5250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657361-4EE4-49F1-963A-7241FCA3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INPUT CAPTURE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5c157087c04425"/>
          <a:srcRect xmlns:a="http://schemas.openxmlformats.org/drawingml/2006/main" l="0" t="19524" r="0" b="195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295400"/>
            <a:ext cx="5381625" cy="17526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69824-7B86-4F73-AB47-475720D1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48000"/>
            <a:ext cx="5381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6ACBF2-59C7-497E-9F90-38CB67C6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1242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4.19-minute flight     253 keyframes     2,525 telemetry samples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198E60-1B70-4313-ADF0-3592B5B4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95250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146C7F-3AE7-44E5-8C55-2127752E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93345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OUTPUT PRODUCTS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3a6358cab248f1"/>
          <a:stretch xmlns:a="http://schemas.openxmlformats.org/drawingml/2006/main"/>
        </p:blipFill>
        <p:spPr>
          <a:xfrm xmlns:a="http://schemas.openxmlformats.org/drawingml/2006/main">
            <a:off x="6661197" y="1285875"/>
            <a:ext cx="1822356" cy="20574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11E6DD-185E-4961-B28B-7F0F6627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3525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6AA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6AA9"/>
                </a:solidFill>
                <a:latin typeface="Arial"/>
                <a:ea typeface="Arial"/>
                <a:cs typeface="Arial"/>
              </a:rPr>
              <a:t>604,982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BC4A98-EB18-4CF0-AECD-974725FA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47850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COLOURED POINTS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7308B6-4D4E-499C-834C-B881FF5A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431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361,510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7766C4-98CE-48EA-870E-7F369469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431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MESH FACES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2EAEB8-9870-434C-A9EE-C4A90189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956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GLB, LAS and GeoTIFF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12B00E-1AA8-4799-976D-D9085DE5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52775"/>
            <a:ext cx="2381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EPSG:32610    DSM 0.5 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9B05AC-7339-45FF-BCCF-8C225D1F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1475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D6694F-7497-45C4-8015-208A93EB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SPEED PROOF</a:t>
            </a:r>
          </a:p>
        </p:txBody>
      </p:sp>
      <p:graphicFrame>
        <p:nvGraphicFramePr>
          <p:cNvPr id="60" name="Chart"/>
          <p:cNvGraphicFramePr/>
          <p:nvPr/>
        </p:nvGraphicFramePr>
        <p:xfrm>
          <a:off xmlns:a="http://schemas.openxmlformats.org/drawingml/2006/main" x="400050" y="4057650"/>
          <a:ext xmlns:a="http://schemas.openxmlformats.org/drawingml/2006/main" cx="400050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4a6949cb74b4221"/>
          </a:graphicData>
        </a:graphic>
      </p:graphicFrame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EA8DD5-486C-437B-9AFD-A5CED146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171950"/>
            <a:ext cx="1123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64%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12AC2B-A172-459F-A27C-E0B5280A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695825"/>
            <a:ext cx="1123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RUNTIME</a:t>
            </a:r>
          </a:p>
          <a:p xmlns:a="http://schemas.openxmlformats.org/drawingml/2006/main">
            <a:pPr algn="ctr">
              <a:defRPr sz="1125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REDUCTION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0C5ACB-AD1C-4174-86A1-840F997C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314950"/>
            <a:ext cx="125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28.81 min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8AE92F-F31A-4124-9F8E-D0BDA303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629275"/>
            <a:ext cx="1123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latest wall time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FE7CF8-AA68-4508-BCB7-4BBEFEB8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1475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069C3C-4BEE-4CB0-A821-D0CB3A6D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69570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QUALITY EVIDENCE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67e2e748c7463b"/>
          <a:stretch xmlns:a="http://schemas.openxmlformats.org/drawingml/2006/main"/>
        </p:blipFill>
        <p:spPr>
          <a:xfrm xmlns:a="http://schemas.openxmlformats.org/drawingml/2006/main">
            <a:off x="6493454" y="4067175"/>
            <a:ext cx="3205591" cy="196215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3D6AE7-4549-4E7D-A9F9-E5E0A2C3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133850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AF365A-E08F-4908-BD31-BDD1E5EC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42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capture screen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04556B-8C41-497A-A0C9-4E58F2DE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810125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6AA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6AA9"/>
                </a:solidFill>
                <a:latin typeface="Arial"/>
                <a:ea typeface="Arial"/>
                <a:cs typeface="Arial"/>
              </a:rPr>
              <a:t>0.458 px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97FF10-DE8D-46CE-96FA-0EFC7309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1054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reprojection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E3410A-2630-4388-BB5E-9D088CA2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486400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46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4646"/>
                </a:solidFill>
                <a:latin typeface="Arial"/>
                <a:ea typeface="Arial"/>
                <a:cs typeface="Arial"/>
              </a:rPr>
              <a:t>81.82%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1A2F46-70B1-4981-87DC-22380109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7816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registered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9CCC41-40E3-4AD2-ACC0-9E6B5EA3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286500"/>
            <a:ext cx="1146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770A99-0379-4296-B69B-BE058242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912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841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88412"/>
                </a:solidFill>
                <a:latin typeface="Arial"/>
                <a:ea typeface="Arial"/>
                <a:cs typeface="Arial"/>
              </a:rPr>
              <a:t>Accuracy proof pending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C3A5D7-1CCE-467F-8CAD-BB0019BD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6391275"/>
            <a:ext cx="899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Independent checkpoint RMSE has not been evaluated. GPS camera RMSE cannot prove the one-metre surface target.</a:t>
            </a:r>
          </a:p>
        </p:txBody>
      </p:sp>
    </p:spTree>
    <p:extLst>
      <p:ext uri="{BB962C8B-B14F-4D97-AF65-F5344CB8AC3E}">
        <p14:creationId xmlns:p14="http://schemas.microsoft.com/office/powerpoint/2010/main" val="20129059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2026-09-15T05:24:20.6800000Z</dcterms:created>
  <dcterms:modified xsi:type="dcterms:W3CDTF">2026-09-15T05:24:20.6800000Z</dcterms:modified>
</coreProperties>
</file>
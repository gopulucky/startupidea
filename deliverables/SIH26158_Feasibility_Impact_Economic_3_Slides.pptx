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3e83a6558d48a6" /><Relationship Type="http://schemas.openxmlformats.org/officeDocument/2006/relationships/extended-properties" Target="/docProps/app.xml" Id="Rae8bb1327cb445f3" /><Relationship Type="http://schemas.openxmlformats.org/officeDocument/2006/relationships/officeDocument" Target="/ppt/presentation.xml" Id="R362dfdbd3aac4b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35062717a34f11"/>
  </p:sldMasterIdLst>
  <p:notesMasterIdLst>
    <p:notesMasterId xmlns:r="http://schemas.openxmlformats.org/officeDocument/2006/relationships" r:id="R438e6d5004904b24"/>
  </p:notesMasterIdLst>
  <p:sldIdLst>
    <p:sldId xmlns:r="http://schemas.openxmlformats.org/officeDocument/2006/relationships" id="256" r:id="Ra913509bdddb47f9"/>
    <p:sldId xmlns:r="http://schemas.openxmlformats.org/officeDocument/2006/relationships" id="257" r:id="R0363845e592f44a3"/>
    <p:sldId xmlns:r="http://schemas.openxmlformats.org/officeDocument/2006/relationships" id="258" r:id="R8cb4e155e41c46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6bcfff74714097" /><Relationship Type="http://schemas.openxmlformats.org/officeDocument/2006/relationships/slideMaster" Target="/ppt/slideMasters/slideMaster1.xml" Id="Rfa35062717a34f11" /><Relationship Type="http://schemas.openxmlformats.org/officeDocument/2006/relationships/notesMaster" Target="/ppt/notesMasters/notesMaster1.xml" Id="R438e6d5004904b24" /><Relationship Type="http://schemas.openxmlformats.org/officeDocument/2006/relationships/presProps" Target="/ppt/presProps.xml" Id="Rf47606a7dd794208" /><Relationship Type="http://schemas.openxmlformats.org/officeDocument/2006/relationships/tableStyles" Target="/ppt/tableStyles.xml" Id="R761c27f592d04166" /><Relationship Type="http://schemas.openxmlformats.org/officeDocument/2006/relationships/slide" Target="/ppt/slides/slide1.xml" Id="Ra913509bdddb47f9" /><Relationship Type="http://schemas.openxmlformats.org/officeDocument/2006/relationships/slide" Target="/ppt/slides/slide2.xml" Id="R0363845e592f44a3" /><Relationship Type="http://schemas.openxmlformats.org/officeDocument/2006/relationships/slide" Target="/ppt/slides/slide3.xml" Id="R8cb4e155e41c46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39ab91325e4d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060f467a064c3e" /><Relationship Type="http://schemas.openxmlformats.org/officeDocument/2006/relationships/notesMaster" Target="/ppt/notesMasters/notesMaster1.xml" Id="R65693980d32b42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4836c207044465" /><Relationship Type="http://schemas.openxmlformats.org/officeDocument/2006/relationships/notesMaster" Target="/ppt/notesMasters/notesMaster1.xml" Id="R14e3a28fe5104f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3ccd798bec462e" /><Relationship Type="http://schemas.openxmlformats.org/officeDocument/2006/relationships/notesMaster" Target="/ppt/notesMasters/notesMaster1.xml" Id="Rda4daf14a5b046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optimized_v1/run_report.json; optimized_v1/verification_report.json; optimized_v1/preflight.json; optimized_v1/capture_quality.json.</a:t>
            </a:r>
          </a:p>
          <a:p xmlns:a="http://schemas.openxmlformats.org/drawingml/2006/main">
            <a:r>
              <a:t>Input image: SIH26158_HF_Drone_Full253_AB_Colab (1).ipynb, cell 5.</a:t>
            </a:r>
          </a:p>
          <a:p xmlns:a="http://schemas.openxmlformats.org/drawingml/2006/main">
            <a:r>
              <a:t>DSM image: the same notebook, cell 8. Geometry diagnostics: the same notebook, cell 7.</a:t>
            </a:r>
          </a:p>
          <a:p xmlns:a="http://schemas.openxmlformats.org/drawingml/2006/main">
            <a:r>
              <a:t>Runtime evidence: the archived run_report.json records 28.81 minutes for all 253 frames. The project team reports a 15-minute run after reducing the processed frame count. Historical baseline: 80.75 minutes.</a:t>
            </a:r>
          </a:p>
          <a:p xmlns:a="http://schemas.openxmlformats.org/drawingml/2006/main">
            <a:r>
              <a:t>The archive reports no surveyed checkpoints or independent reference surface, so the one-metre surface target remains unevaluated.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slide follows the supplied impact-slide structure while retaining the project's navy and teal visual system.</a:t>
            </a:r>
          </a:p>
          <a:p xmlns:a="http://schemas.openxmlformats.org/drawingml/2006/main">
            <a:r>
              <a:t>DSM image: SIH26158_HF_Drone_Optimization_1088_Colab.ipynb, optimized candidate DSM output.</a:t>
            </a:r>
          </a:p>
          <a:p xmlns:a="http://schemas.openxmlformats.org/drawingml/2006/main">
            <a:r>
              <a:t>The archived run_report.json records 28.81 minutes for all 253 frames. The project team reports a 15-minute run after reducing the processed frame count.</a:t>
            </a:r>
          </a:p>
          <a:p xmlns:a="http://schemas.openxmlformats.org/drawingml/2006/main">
            <a:r>
              <a:t>Target-user and impact statements describe intended operational use. They are not measured cost savings, response-time improvements or deployment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Usage proxy: cumulative villages where drone flying was completed under India's SVAMITVA programme.</a:t>
            </a:r>
          </a:p>
          <a:p xmlns:a="http://schemas.openxmlformats.org/drawingml/2006/main">
            <a:r>
              <a:t>2021, 90,504 villages: https://www.pib.gov.in/PressReleasePage.aspx?PRID=1786259</a:t>
            </a:r>
          </a:p>
          <a:p xmlns:a="http://schemas.openxmlformats.org/drawingml/2006/main">
            <a:r>
              <a:t>2022, 203,118 villages: https://www.pib.gov.in/PressReleasePage.aspx?PRID=1885885</a:t>
            </a:r>
          </a:p>
          <a:p xmlns:a="http://schemas.openxmlformats.org/drawingml/2006/main">
            <a:r>
              <a:t>2023, 289,000 villages: https://www.pib.gov.in/Pressreleaseshare.aspx?PRID=1991702</a:t>
            </a:r>
          </a:p>
          <a:p xmlns:a="http://schemas.openxmlformats.org/drawingml/2006/main">
            <a:r>
              <a:t>2024, 317,000 villages: https://www.pib.gov.in/Pressreleaseshare.aspx?PRID=2090152</a:t>
            </a:r>
          </a:p>
          <a:p xmlns:a="http://schemas.openxmlformats.org/drawingml/2006/main">
            <a:r>
              <a:t>2025, 328,000 villages: https://www.pib.gov.in/PressReleasePage.aspx?PRID=2209532</a:t>
            </a:r>
          </a:p>
          <a:p xmlns:a="http://schemas.openxmlformats.org/drawingml/2006/main">
            <a:r>
              <a:t>SVAMITVA programme cost of ₹566.23 crore through FY 2025-26: https://static.pib.gov.in/WriteReadData/specificdocs/documents/2025/apr/doc2025423544601.pdf</a:t>
            </a:r>
          </a:p>
          <a:p xmlns:a="http://schemas.openxmlformats.org/drawingml/2006/main">
            <a:r>
              <a:t>Compute-cost index calculation: historical 80.75 minutes = 100. Full run = 28.81 / 80.75 × 100 = 35.7. Rapid run = 15 / 80.75 × 100 = 18.6.</a:t>
            </a:r>
          </a:p>
          <a:p xmlns:a="http://schemas.openxmlformats.org/drawingml/2006/main">
            <a:r>
              <a:t>The cost index assumes the same usage-based GPU hourly rate. It does not estimate capture, labour, storage, software licensing or hardware depreciation.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efb0ae958b41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3b9b61f4254708" /><Relationship Type="http://schemas.openxmlformats.org/officeDocument/2006/relationships/slideLayout" Target="/ppt/slideLayouts/slideLayout1.xml" Id="Rd55590b7b2cb45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5590b7b2cb45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0a406f3084f32" /><Relationship Type="http://schemas.openxmlformats.org/officeDocument/2006/relationships/image" Target="/ppt/media/image.png" Id="R1a433fb65cd7493d" /><Relationship Type="http://schemas.openxmlformats.org/officeDocument/2006/relationships/image" Target="/ppt/media/image2.png" Id="R845c3b80c5f840c4" /><Relationship Type="http://schemas.openxmlformats.org/officeDocument/2006/relationships/chart" Target="/ppt/slides/charts/chart1.xml" Id="Rdb8fc3d2d4e34914" /><Relationship Type="http://schemas.openxmlformats.org/officeDocument/2006/relationships/image" Target="/ppt/media/image3.png" Id="Rceecfb117a184799" /><Relationship Type="http://schemas.openxmlformats.org/officeDocument/2006/relationships/notesSlide" Target="/ppt/notesSlides/notesSlide1.xml" Id="R55c96c17070544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c4f2c79e64473" /><Relationship Type="http://schemas.openxmlformats.org/officeDocument/2006/relationships/image" Target="/ppt/media/image4.png" Id="R983bba47a2524b39" /><Relationship Type="http://schemas.openxmlformats.org/officeDocument/2006/relationships/notesSlide" Target="/ppt/notesSlides/notesSlide2.xml" Id="R9e56ca692cbe46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f85d868f244e5" /><Relationship Type="http://schemas.openxmlformats.org/officeDocument/2006/relationships/chart" Target="/ppt/slides/charts/chart2.xml" Id="Racaa4f60287f4ad6" /><Relationship Type="http://schemas.openxmlformats.org/officeDocument/2006/relationships/chart" Target="/ppt/slides/charts/chart3.xml" Id="R6cb20d0efa2d465f" /><Relationship Type="http://schemas.openxmlformats.org/officeDocument/2006/relationships/notesSlide" Target="/ppt/notesSlides/notesSlide3.xml" Id="R8027288722854d7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Minutes</c:v>
          </c:tx>
          <c:spPr>
            <a:solidFill xmlns:a="http://schemas.openxmlformats.org/drawingml/2006/main">
              <a:srgbClr val="94B9D3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9C4D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EA5A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D88412"/>
              </a:solidFill>
            </c:spPr>
          </c:dPt>
          <c:cat>
            <c:strLit>
              <c:ptCount val="3"/>
              <c:pt idx="0">
                <c:v>Historical</c:v>
              </c:pt>
              <c:pt idx="1">
                <c:v>253 frames</c:v>
              </c:pt>
              <c:pt idx="2">
                <c:v>Reduced frames</c:v>
              </c:pt>
            </c:strLit>
          </c:cat>
          <c:val>
            <c:numLit>
              <c:formatCode>0.00</c:formatCode>
              <c:ptCount val="3"/>
              <c:pt idx="0">
                <c:v>80.75</c:v>
              </c:pt>
              <c:pt idx="1">
                <c:v>28.81</c:v>
              </c:pt>
              <c:pt idx="2">
                <c:v>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6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9FC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9FC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Villages surveyed, thousands</c:v>
          </c:tx>
          <c:spPr>
            <a:solidFill xmlns:a="http://schemas.openxmlformats.org/drawingml/2006/main">
              <a:srgbClr val="0EA5A0"/>
            </a:solidFill>
          </c:spPr>
          <c:cat>
            <c:numLit>
              <c:formatCode>General</c:formatCode>
              <c:ptCount val="5"/>
              <c:pt idx="0">
                <c:v>2021</c:v>
              </c:pt>
              <c:pt idx="1">
                <c:v>2022</c:v>
              </c:pt>
              <c:pt idx="2">
                <c:v>2023</c:v>
              </c:pt>
              <c:pt idx="3">
                <c:v>2024</c:v>
              </c:pt>
              <c:pt idx="4">
                <c:v>2025</c:v>
              </c:pt>
            </c:numLit>
          </c:cat>
          <c:val>
            <c:numLit>
              <c:formatCode>0.0</c:formatCode>
              <c:ptCount val="5"/>
              <c:pt idx="0">
                <c:v>90.504</c:v>
              </c:pt>
              <c:pt idx="1">
                <c:v>203.118</c:v>
              </c:pt>
              <c:pt idx="2">
                <c:v>289</c:v>
              </c:pt>
              <c:pt idx="3">
                <c:v>317</c:v>
              </c:pt>
              <c:pt idx="4">
                <c:v>328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26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FE7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7F9FC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9FC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Compute-cost index</c:v>
          </c:tx>
          <c:spPr>
            <a:solidFill xmlns:a="http://schemas.openxmlformats.org/drawingml/2006/main">
              <a:srgbClr val="A9C4D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9C4D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EA5A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D88412"/>
              </a:solidFill>
            </c:spPr>
          </c:dPt>
          <c:cat>
            <c:strLit>
              <c:ptCount val="3"/>
              <c:pt idx="0">
                <c:v>Historical</c:v>
              </c:pt>
              <c:pt idx="1">
                <c:v>Our full</c:v>
              </c:pt>
              <c:pt idx="2">
                <c:v>Our rapid</c:v>
              </c:pt>
            </c:strLit>
          </c:cat>
          <c:val>
            <c:numLit>
              <c:formatCode>0.0</c:formatCode>
              <c:ptCount val="3"/>
              <c:pt idx="0">
                <c:v>100</c:v>
              </c:pt>
              <c:pt idx="1">
                <c:v>35.7</c:v>
              </c:pt>
              <c:pt idx="2">
                <c:v>18.6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26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9FC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9FC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2FDDEA-C45C-47E1-9952-24B8D221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Feasibility proof from completed drone-video runs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2D459-2AB4-4DD9-B5B5-E63B1DAA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SIH26158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EA373-9614-4A07-B5A0-1F1A327C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42950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8C144-82D5-42E0-8F42-108531EC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914400"/>
            <a:ext cx="19050" cy="527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67BB8-CC14-4104-8710-8A10E2A6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95675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08A74-6CCF-4E66-9DC9-0A93101D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525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26CB0-66AF-4D4F-B2D7-9A020E35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INPUT CAPTURE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433fb65cd7493d"/>
          <a:srcRect xmlns:a="http://schemas.openxmlformats.org/drawingml/2006/main" l="0" t="19524" r="0" b="195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295400"/>
            <a:ext cx="5381625" cy="1752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B0936-4D31-400C-BD5E-135EEE5D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0"/>
            <a:ext cx="5381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5CF327-009A-4B3E-B071-3DC9B0B3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1242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4.19-minute flight     253 keyframes     2,525 telemetry samples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3F01C8-33AC-477B-AC52-408F488F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9525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E931C-07CD-449F-BE60-3FD842BD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9334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OUTPUT PRODUCTS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5c3b80c5f840c4"/>
          <a:stretch xmlns:a="http://schemas.openxmlformats.org/drawingml/2006/main"/>
        </p:blipFill>
        <p:spPr>
          <a:xfrm xmlns:a="http://schemas.openxmlformats.org/drawingml/2006/main">
            <a:off x="6661197" y="1285875"/>
            <a:ext cx="1822356" cy="20574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4557F-68AA-47F2-BF0F-C04DEE44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3525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604,982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E55950-E36B-4F61-9126-DC6FDE5B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4785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COLOURED POINTS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06478B-0E5F-4A28-B73A-6A18FE09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431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361,510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EBAA47-0561-4A5A-B0F6-EDBAD1AB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431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MESH FACES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125C5F-9340-455C-8D4B-03F9508C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956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GLB, LAS and GeoTIFF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68E6B7-3A05-413E-A04D-B9B5C532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52775"/>
            <a:ext cx="2381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EPSG:32610    DSM 0.5 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456B42-9154-424C-AEC7-C81E2467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147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D20212-8CD0-4C6B-962F-D0E750B3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RUNTIME PROOF</a:t>
            </a:r>
          </a:p>
        </p:txBody>
      </p:sp>
      <p:graphicFrame>
        <p:nvGraphicFramePr>
          <p:cNvPr id="63" name="Chart"/>
          <p:cNvGraphicFramePr/>
          <p:nvPr/>
        </p:nvGraphicFramePr>
        <p:xfrm>
          <a:off xmlns:a="http://schemas.openxmlformats.org/drawingml/2006/main" x="361950" y="4057650"/>
          <a:ext xmlns:a="http://schemas.openxmlformats.org/drawingml/2006/main" cx="4076700" cy="2019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b8fc3d2d4e34914"/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431C71-69E8-4220-B549-A7AAD684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0" y="45720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Processing mode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CC5887-1E4A-4250-9CEC-A4CA798A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953125"/>
            <a:ext cx="1809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Runtime (minutes)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0353D6-A79E-4136-B060-338ED281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7195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15 min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C553E7-8981-412A-B62E-A0B7EF87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672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reduced frames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58A196-68A4-4AEE-84BE-4A47CA5E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768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target achieved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DB8961-BFA3-4328-BD24-C1E2F6A9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14950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28.81 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4A654E-75C5-45D2-803D-9605048B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629275"/>
            <a:ext cx="1123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all 253 frames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A83832-A82E-411E-A897-5800D086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147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4DB04A-1DCC-442E-9800-B75C4F5C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6957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QUALITY EVIDENCE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ecfb117a184799"/>
          <a:stretch xmlns:a="http://schemas.openxmlformats.org/drawingml/2006/main"/>
        </p:blipFill>
        <p:spPr>
          <a:xfrm xmlns:a="http://schemas.openxmlformats.org/drawingml/2006/main">
            <a:off x="6493454" y="4067175"/>
            <a:ext cx="3205591" cy="19621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27D7C6-4D31-409E-8049-1273A255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13385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56EC2E-1AE8-427D-A02D-852F64ED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42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capture screen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1D81F7-C89E-4C3E-A3C1-A937B848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81012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0.458 px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1D4186-E06C-4D2C-9B18-365FFBA4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1054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reprojection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8C1125-9D2D-4EC5-87A3-F235BBBD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48640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46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4646"/>
                </a:solidFill>
                <a:latin typeface="Arial"/>
                <a:ea typeface="Arial"/>
                <a:cs typeface="Arial"/>
              </a:rPr>
              <a:t>81.82%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C9E6E7-9864-401B-88E9-B566F35E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7816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registered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DD606F-943A-487A-AE32-8E1D9161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286500"/>
            <a:ext cx="1146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20C803-C043-405E-BDAD-B2BAF25D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912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84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88412"/>
                </a:solidFill>
                <a:latin typeface="Arial"/>
                <a:ea typeface="Arial"/>
                <a:cs typeface="Arial"/>
              </a:rPr>
              <a:t>Accuracy proof pending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072960-900A-4131-A3A7-4202CF38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391275"/>
            <a:ext cx="899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Independent checkpoint RMSE has not been evaluated. GPS camera RMSE cannot prove the one-metre surface target.</a:t>
            </a:r>
          </a:p>
        </p:txBody>
      </p:sp>
    </p:spTree>
    <p:extLst>
      <p:ext uri="{BB962C8B-B14F-4D97-AF65-F5344CB8AC3E}">
        <p14:creationId xmlns:p14="http://schemas.microsoft.com/office/powerpoint/2010/main" val="13242033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A76694-6DCE-48E1-AF7E-E071FD08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Benefits and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C1952-3AB1-46D2-8AC8-695431B2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SIH26158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6B91F-2372-4152-9E55-BC67DF69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42950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36FA3-9B11-43F9-8035-F7E6EB78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914400"/>
            <a:ext cx="19050" cy="556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0AC92-613C-4AA6-8D6A-13974F4A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524250"/>
            <a:ext cx="561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603EF-55BB-46A9-8CB6-2B0A8E55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24250"/>
            <a:ext cx="584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E15E5-4F74-4B94-A4A2-B2712659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DIRECT IMPACT ON TARGET USERS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0C69D9-8EAB-4082-9BC6-86A4FD15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509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Survey and GIS teams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31073D-8CA0-47A1-B1C6-7E37F334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4782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3D model and DSM from one drone flight.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362790-82F7-4B23-8BA4-0308B5DA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57400"/>
            <a:ext cx="509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Infrastructure teams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8B394-C990-4217-B125-DA920645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2410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Inspect difficult terrain before field deployment.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137966-B67D-4893-B97F-94368161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33675"/>
            <a:ext cx="509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Emergency response teams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DAE084-26BC-42CA-9F88-E4FD6D12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0037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15-minute mode supports rapid site assessment.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9879B8-EA58-41EB-BBDF-7E3A712D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14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STRATEGIC IMPACT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382DAB-ABB7-45E2-AB79-A778A443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00525"/>
            <a:ext cx="509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Local geospatial capability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5C4825-55C8-4055-A5CB-A0DD8528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6722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Open pipeline, reports and standard outputs.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12F0C5-DF33-46F6-94C2-0D19E4CF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76800"/>
            <a:ext cx="509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Shared operational picture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4789D-1FB8-47F8-A30F-098C0863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GIS, 3D and browser-ready data.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A458AC-202E-41B1-8824-79951C6D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53075"/>
            <a:ext cx="509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Scales with each mission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6A20F0-54D4-40B9-98C7-AE5AEF10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977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Rapid mode or full 253-frame reconstruction.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6F537D-7B22-4673-B1E1-06E42FA8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62025"/>
            <a:ext cx="528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ECONOMIC AND OPERATIONAL BENEFITS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53AF24-4D9D-4D15-8FC5-E13F53C5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81125"/>
            <a:ext cx="509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Lower survey overhead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3AA3A1-9470-4C09-8D9C-37EB171E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4782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Reuse existing drone video and telemetry.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6C73A7-EB4F-469E-969A-E2857F2E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57400"/>
            <a:ext cx="509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Faster turnaround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0E71E7-421C-443C-85D2-964ACE1E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15 min rapid mode, 28.81 min full run.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25A206-AD46-4B53-BED3-6DBA2A6F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33675"/>
            <a:ext cx="509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Reduced tool lock-in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281CA8-D777-4BCF-B253-FFD12451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037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GLB, LAS and GeoTIFF remain portable.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13B270-4BE1-44E7-B6C7-2E0BBAF3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REUSABLE GIS OUTPUT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3bba47a2524b39"/>
          <a:stretch xmlns:a="http://schemas.openxmlformats.org/drawingml/2006/main"/>
        </p:blipFill>
        <p:spPr>
          <a:xfrm xmlns:a="http://schemas.openxmlformats.org/drawingml/2006/main">
            <a:off x="7890317" y="3962400"/>
            <a:ext cx="2031117" cy="23050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E08512-1E34-46C7-BA82-C2D24694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DSM 0.5 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92792D-9B77-4792-B908-AD195108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8577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EPSG:32610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EAA199-9268-4295-994D-B42FD09A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3054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Ready for GIS</a:t>
            </a:r>
          </a:p>
        </p:txBody>
      </p:sp>
    </p:spTree>
    <p:extLst>
      <p:ext uri="{BB962C8B-B14F-4D97-AF65-F5344CB8AC3E}">
        <p14:creationId xmlns:p14="http://schemas.microsoft.com/office/powerpoint/2010/main" val="5699450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2D1A3B-9C66-400A-B072-82DCDCC0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Economic impact: usage and processing cost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56E091-64A1-4EFD-A1DB-78BF7359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SIH26158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DE3B6-376E-49DB-8A33-54A6522F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42950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5CD89-FFB7-4F8D-8BC8-121F716C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INDIA USAGE PROXY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5721B-2F1A-44A8-A850-814CB4DC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9675"/>
            <a:ext cx="561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SVAMITVA villages with completed drone surveys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4294FD-CE5F-4C3D-A3C2-0D94FABE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620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OUR VARIABLE COMPUTE COST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D9C951-20E6-4128-8915-0C9AEE96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209675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Same GPU hourly rate, historical run = 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78D6D-5764-4FD6-AF0B-A51068F1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1440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7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19100" y="1504950"/>
          <a:ext xmlns:a="http://schemas.openxmlformats.org/drawingml/2006/main" cx="6572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aa4f60287f4ad6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25982B-97F7-4472-B18E-7DDF959D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Villages surveyed (thousands)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7486650" y="1600200"/>
          <a:ext xmlns:a="http://schemas.openxmlformats.org/drawingml/2006/main" cx="40957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b20d0efa2d465f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39827E-2B1B-4FC0-8C05-EA25D401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672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Variable cost per run (index)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80EA4C-D7DE-4C62-BF8F-A385ACD8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219700"/>
            <a:ext cx="11468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4C71A0-2656-4729-8EFF-2FB21D1E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0067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3.6×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8915D8-1870-43A7-B271-9BB8641C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F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9E6F0"/>
                </a:solidFill>
                <a:latin typeface="Arial"/>
                <a:ea typeface="Arial"/>
                <a:cs typeface="Arial"/>
              </a:rPr>
              <a:t>usage growth since 2021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50CDA4-8F1F-4221-901A-AA7DBA24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91150"/>
            <a:ext cx="19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9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218643-E395-4A72-82D7-7FEE9001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40067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₹566.23 cr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990002-BA80-4234-B95D-90802F39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8483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F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9E6F0"/>
                </a:solidFill>
                <a:latin typeface="Arial"/>
                <a:ea typeface="Arial"/>
                <a:cs typeface="Arial"/>
              </a:rPr>
              <a:t>SVAMITVA programme cost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982976-D926-41B0-81DA-F9F095FA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91150"/>
            <a:ext cx="19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9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D65B94-BAD7-47B0-A2C1-BA86EAC0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40067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FE1D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FE1D7"/>
                </a:solidFill>
                <a:latin typeface="Arial"/>
                <a:ea typeface="Arial"/>
                <a:cs typeface="Arial"/>
              </a:rPr>
              <a:t>81% lower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9D85A8-C424-41B7-8F36-2A4DCACE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848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F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9E6F0"/>
                </a:solidFill>
                <a:latin typeface="Arial"/>
                <a:ea typeface="Arial"/>
                <a:cs typeface="Arial"/>
              </a:rPr>
              <a:t>GPU time in rapid mode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4FB3E1-092F-4407-9031-293E78BA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133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Usage data: Government of India, Dec year-end values. Cost index assumes usage-based GPU billing and excludes capture, labour and software licensing.</a:t>
            </a:r>
          </a:p>
        </p:txBody>
      </p:sp>
    </p:spTree>
    <p:extLst>
      <p:ext uri="{BB962C8B-B14F-4D97-AF65-F5344CB8AC3E}">
        <p14:creationId xmlns:p14="http://schemas.microsoft.com/office/powerpoint/2010/main" val="544962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2026-09-15T06:16:11.8360000Z</dcterms:created>
  <dcterms:modified xsi:type="dcterms:W3CDTF">2026-09-15T06:16:11.8360000Z</dcterms:modified>
</coreProperties>
</file>
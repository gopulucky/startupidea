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d2cb076f05c45ac" /><Relationship Type="http://schemas.openxmlformats.org/officeDocument/2006/relationships/extended-properties" Target="/docProps/app.xml" Id="R1ba3640915a1406e" /><Relationship Type="http://schemas.openxmlformats.org/officeDocument/2006/relationships/officeDocument" Target="/ppt/presentation.xml" Id="R28fd35cddc53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1ba879b5334694"/>
  </p:sldMasterIdLst>
  <p:notesMasterIdLst>
    <p:notesMasterId xmlns:r="http://schemas.openxmlformats.org/officeDocument/2006/relationships" r:id="R9e6a13f1e2c74b12"/>
  </p:notesMasterIdLst>
  <p:sldIdLst>
    <p:sldId xmlns:r="http://schemas.openxmlformats.org/officeDocument/2006/relationships" id="256" r:id="R5a7c1a72b98d4f8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1906595f184615" /><Relationship Type="http://schemas.openxmlformats.org/officeDocument/2006/relationships/slideMaster" Target="/ppt/slideMasters/slideMaster1.xml" Id="R751ba879b5334694" /><Relationship Type="http://schemas.openxmlformats.org/officeDocument/2006/relationships/notesMaster" Target="/ppt/notesMasters/notesMaster1.xml" Id="R9e6a13f1e2c74b12" /><Relationship Type="http://schemas.openxmlformats.org/officeDocument/2006/relationships/presProps" Target="/ppt/presProps.xml" Id="R6ed52710d7604e15" /><Relationship Type="http://schemas.openxmlformats.org/officeDocument/2006/relationships/tableStyles" Target="/ppt/tableStyles.xml" Id="R125d5132085c48d5" /><Relationship Type="http://schemas.openxmlformats.org/officeDocument/2006/relationships/slide" Target="/ppt/slides/slide1.xml" Id="R5a7c1a72b98d4f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c412981bc1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26904640fc44b6" /><Relationship Type="http://schemas.openxmlformats.org/officeDocument/2006/relationships/notesMaster" Target="/ppt/notesMasters/notesMaster1.xml" Id="R5c76f471b42a4c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optimized_v1/run_report.json; optimized_v1/verification_report.json; optimized_v1/preflight.json; optimized_v1/capture_quality.json.</a:t>
            </a:r>
          </a:p>
          <a:p xmlns:a="http://schemas.openxmlformats.org/drawingml/2006/main">
            <a:r>
              <a:t>Input image: SIH26158_HF_Drone_Full253_AB_Colab (1).ipynb, cell 5.</a:t>
            </a:r>
          </a:p>
          <a:p xmlns:a="http://schemas.openxmlformats.org/drawingml/2006/main">
            <a:r>
              <a:t>DSM image: the same notebook, cell 8. Geometry diagnostics: the same notebook, cell 7.</a:t>
            </a:r>
          </a:p>
          <a:p xmlns:a="http://schemas.openxmlformats.org/drawingml/2006/main">
            <a:r>
              <a:t>Runtime evidence: the archived run_report.json records 28.81 minutes for all 253 frames. The project team reports a 15-minute run after reducing the processed frame count. Historical baseline: 80.75 minutes.</a:t>
            </a:r>
          </a:p>
          <a:p xmlns:a="http://schemas.openxmlformats.org/drawingml/2006/main">
            <a:r>
              <a:t>The archive reports no surveyed checkpoints or independent reference surface, so the one-metre surface target remains unevaluated.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b04eafdef546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e1eb2ba31244b9" /><Relationship Type="http://schemas.openxmlformats.org/officeDocument/2006/relationships/slideLayout" Target="/ppt/slideLayouts/slideLayout1.xml" Id="R6009ee4ea0894d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09ee4ea0894d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426030f4c4662" /><Relationship Type="http://schemas.openxmlformats.org/officeDocument/2006/relationships/image" Target="/ppt/media/image.png" Id="R66c35a788fdc4c93" /><Relationship Type="http://schemas.openxmlformats.org/officeDocument/2006/relationships/image" Target="/ppt/media/image2.png" Id="Rc2d1d8b0e6724d16" /><Relationship Type="http://schemas.openxmlformats.org/officeDocument/2006/relationships/chart" Target="/ppt/slides/charts/chart1.xml" Id="Rf649cc97de24426b" /><Relationship Type="http://schemas.openxmlformats.org/officeDocument/2006/relationships/image" Target="/ppt/media/image3.png" Id="R606e8ec1ab5a4ba9" /><Relationship Type="http://schemas.openxmlformats.org/officeDocument/2006/relationships/notesSlide" Target="/ppt/notesSlides/notesSlide1.xml" Id="Radc40a70f4df4831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Minutes</c:v>
          </c:tx>
          <c:spPr>
            <a:solidFill xmlns:a="http://schemas.openxmlformats.org/drawingml/2006/main">
              <a:srgbClr val="94B9D3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A9C4D7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EA5A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88412"/>
              </a:solidFill>
            </c:spPr>
          </c:dPt>
          <c:cat>
            <c:strLit>
              <c:ptCount val="3"/>
              <c:pt idx="0">
                <c:v>Historical baseline</c:v>
              </c:pt>
              <c:pt idx="1">
                <c:v>All 253 frames</c:v>
              </c:pt>
              <c:pt idx="2">
                <c:v>Reduced frames</c:v>
              </c:pt>
            </c:strLit>
          </c:cat>
          <c:val>
            <c:numLit>
              <c:formatCode>0.00</c:formatCode>
              <c:ptCount val="3"/>
              <c:pt idx="0">
                <c:v>80.75</c:v>
              </c:pt>
              <c:pt idx="1">
                <c:v>28.81</c:v>
              </c:pt>
              <c:pt idx="2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726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00">
                <a:solidFill>
                  <a:srgbClr val="F7F9F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7F9FC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7F9FC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CAB396-1F86-4589-8E60-FEB1A2AF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28600"/>
            <a:ext cx="923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Feasibility proof from completed drone-video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34958-392E-4BDD-8D4B-B11C1B0E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9B0E7-A84C-4FC1-8213-F15C739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42950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F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8D303-0F50-4164-AC6D-3178871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914400"/>
            <a:ext cx="19050" cy="527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F0415-80CF-47CE-8577-6A78C8A5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95675"/>
            <a:ext cx="11468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777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51A29-8A13-4B36-9A7B-4E1786DE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FDD61-51DF-4E10-AC73-BEA19F343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INPUT CAPTURE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c35a788fdc4c93"/>
          <a:srcRect xmlns:a="http://schemas.openxmlformats.org/drawingml/2006/main" l="0" t="19524" r="0" b="19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9100" y="1295400"/>
            <a:ext cx="5381625" cy="17526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BD19FC-180A-4E44-B605-57276953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0"/>
            <a:ext cx="5381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A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0FC00-7B6E-4D39-A6CA-B47E1B72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24200"/>
            <a:ext cx="514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4.19-minute flight     253 keyframes     2,525 telemetry samples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75A77D-8D6E-4ECF-8BB4-954AF4365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95250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AE7010-12DA-4D20-AD83-503D0B48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93345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OUTPUT PRODUCTS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1d8b0e6724d16"/>
          <a:stretch xmlns:a="http://schemas.openxmlformats.org/drawingml/2006/main"/>
        </p:blipFill>
        <p:spPr>
          <a:xfrm xmlns:a="http://schemas.openxmlformats.org/drawingml/2006/main">
            <a:off x="6661197" y="1285875"/>
            <a:ext cx="1822356" cy="2057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44DB3A-29E0-416C-9A93-87B37758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352550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79198A-3416-43A7-B008-6AB2CE2C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COLOURED 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554E6-481C-4A35-B4E6-8651C476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431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361,510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C4BB60-038D-41C9-AA48-58C895A6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431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MESH FACES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63448-0FE0-4A32-A822-2F75C5E1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9560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GLB, LAS and GeoTIFF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0E1B0-7637-4F5A-8D9A-C236A41E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152775"/>
            <a:ext cx="2381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EPSG:32610    DSM 0.5 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F293DA-0988-420E-AC40-F9CFD39C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BF0603-B652-46CE-8060-3EA6A842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RUNTIME PROOF</a:t>
            </a:r>
          </a:p>
        </p:txBody>
      </p:sp>
      <p:graphicFrame>
        <p:nvGraphicFramePr>
          <p:cNvPr id="60" name="Chart"/>
          <p:cNvGraphicFramePr/>
          <p:nvPr/>
        </p:nvGraphicFramePr>
        <p:xfrm>
          <a:off xmlns:a="http://schemas.openxmlformats.org/drawingml/2006/main" x="400050" y="4057650"/>
          <a:ext xmlns:a="http://schemas.openxmlformats.org/drawingml/2006/main" cx="400050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49cc97de24426b"/>
          </a:graphicData>
        </a:graphic>
      </p:graphicFrame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233F9-7CF4-4260-92E8-274DC6D2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71950"/>
            <a:ext cx="11239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15 min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DDC8EC-B04F-4CEC-9FC4-84854641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95825"/>
            <a:ext cx="1219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ACHIEVED WITH</a:t>
            </a:r>
          </a:p>
          <a:p xmlns:a="http://schemas.openxmlformats.org/drawingml/2006/main">
            <a:pPr algn="ctr">
              <a:defRPr sz="1050" b="1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87B"/>
                </a:solidFill>
                <a:latin typeface="Arial"/>
                <a:ea typeface="Arial"/>
                <a:cs typeface="Arial"/>
              </a:rPr>
              <a:t>REDUCED FRAMES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97B2E-8FA5-4432-BCDD-793E4F8D3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3149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6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4D9B41-6E5A-4AD9-B0F2-5569D181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629275"/>
            <a:ext cx="1123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all 253 frames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DB1393-F7CC-40B5-895E-9B7E5F3B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714750"/>
            <a:ext cx="333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A5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EA5A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E1FF4-27D5-4E7A-A9D9-ABB4F566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695700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5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63A5F"/>
                </a:solidFill>
                <a:latin typeface="Arial"/>
                <a:ea typeface="Arial"/>
                <a:cs typeface="Arial"/>
              </a:rPr>
              <a:t>QUALITY EVIDENCE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8ec1ab5a4ba9"/>
          <a:stretch xmlns:a="http://schemas.openxmlformats.org/drawingml/2006/main"/>
        </p:blipFill>
        <p:spPr>
          <a:xfrm xmlns:a="http://schemas.openxmlformats.org/drawingml/2006/main">
            <a:off x="6493454" y="4067175"/>
            <a:ext cx="3205591" cy="196215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935D5E-0074-405D-BB5F-35FDEE29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13385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84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845C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F2C1F9-C9D1-47D7-A3A5-814FCEE4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4291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73AAA4-D269-4E7D-8874-28D70F0D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810125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AA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AA9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E38279-46DD-4530-9B84-E45C17E7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1054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468F0B-05AB-4ABE-9453-4B5E83E6A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486400"/>
            <a:ext cx="142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46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4646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EFB498-6719-4467-AC30-222799B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7816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368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3687B"/>
                </a:solidFill>
                <a:latin typeface="Arial"/>
                <a:ea typeface="Arial"/>
                <a:cs typeface="Arial"/>
              </a:rPr>
              <a:t>registered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A83124-9FBA-429F-858E-CC2B3FA0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286500"/>
            <a:ext cx="1146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986E89-0A0F-4E31-996A-041850C2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39127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884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88412"/>
                </a:solidFill>
                <a:latin typeface="Arial"/>
                <a:ea typeface="Arial"/>
                <a:cs typeface="Arial"/>
              </a:rPr>
              <a:t>Accuracy proof pending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56AC20-0734-4B29-8F2A-CA9C16A1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391275"/>
            <a:ext cx="899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63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2636"/>
                </a:solidFill>
                <a:latin typeface="Arial"/>
                <a:ea typeface="Arial"/>
                <a:cs typeface="Arial"/>
              </a:rPr>
              <a:t>Independent checkpoint RMSE has not been evaluated. GPS camera RMSE cannot prove the one-metre surface target.</a:t>
            </a:r>
          </a:p>
        </p:txBody>
      </p:sp>
    </p:spTree>
    <p:extLst>
      <p:ext uri="{BB962C8B-B14F-4D97-AF65-F5344CB8AC3E}">
        <p14:creationId xmlns:p14="http://schemas.microsoft.com/office/powerpoint/2010/main" val="11077166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2026-09-15T05:28:38.1600000Z</dcterms:created>
  <dcterms:modified xsi:type="dcterms:W3CDTF">2026-09-15T05:28:38.1600000Z</dcterms:modified>
</coreProperties>
</file>
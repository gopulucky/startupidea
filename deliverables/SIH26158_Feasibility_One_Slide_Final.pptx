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7f49de23534666" /><Relationship Type="http://schemas.openxmlformats.org/officeDocument/2006/relationships/extended-properties" Target="/docProps/app.xml" Id="R46030c8f12814176" /><Relationship Type="http://schemas.openxmlformats.org/officeDocument/2006/relationships/officeDocument" Target="/ppt/presentation.xml" Id="R078e8e81d6fd4c1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b6f188cec3a4e88"/>
  </p:sldMasterIdLst>
  <p:notesMasterIdLst>
    <p:notesMasterId xmlns:r="http://schemas.openxmlformats.org/officeDocument/2006/relationships" r:id="Rd3e0dde5a83f476e"/>
  </p:notesMasterIdLst>
  <p:sldIdLst>
    <p:sldId xmlns:r="http://schemas.openxmlformats.org/officeDocument/2006/relationships" id="256" r:id="R7df8c42d10f349c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b324e34f2aa446f" /><Relationship Type="http://schemas.openxmlformats.org/officeDocument/2006/relationships/slideMaster" Target="/ppt/slideMasters/slideMaster1.xml" Id="R9b6f188cec3a4e88" /><Relationship Type="http://schemas.openxmlformats.org/officeDocument/2006/relationships/notesMaster" Target="/ppt/notesMasters/notesMaster1.xml" Id="Rd3e0dde5a83f476e" /><Relationship Type="http://schemas.openxmlformats.org/officeDocument/2006/relationships/presProps" Target="/ppt/presProps.xml" Id="R861dbc4238f34ea8" /><Relationship Type="http://schemas.openxmlformats.org/officeDocument/2006/relationships/tableStyles" Target="/ppt/tableStyles.xml" Id="Rd26e5b24736f4f39" /><Relationship Type="http://schemas.openxmlformats.org/officeDocument/2006/relationships/slide" Target="/ppt/slides/slide1.xml" Id="R7df8c42d10f349c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d8ea4e59a98461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1ef0b55a43849bd" /><Relationship Type="http://schemas.openxmlformats.org/officeDocument/2006/relationships/notesMaster" Target="/ppt/notesMasters/notesMaster1.xml" Id="R523c572617dd491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optimized_v1/run_report.json; optimized_v1/verification_report.json; optimized_v1/preflight.json; optimized_v1/capture_quality.json.</a:t>
            </a:r>
          </a:p>
          <a:p xmlns:a="http://schemas.openxmlformats.org/drawingml/2006/main">
            <a:r>
              <a:t>The archive confirms valid GLB, LAS and GeoTIFF products, 604,982 points, 361,510 mesh faces, 28.81-minute wall time, 81.82% registration and 0.457586 px mean reprojection error.</a:t>
            </a:r>
          </a:p>
          <a:p xmlns:a="http://schemas.openxmlformats.org/drawingml/2006/main">
            <a:r>
              <a:t>Accuracy boundary: surveyed checkpoints and dense reference geometry are absent, so the one-metre surface target remains unevaluated.</a:t>
            </a:r>
          </a:p>
          <a:p xmlns:a="http://schemas.openxmlformats.org/drawingml/2006/main">
            <a:r>
              <a:t>The team will provide the viewer demonstration separately.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ea2791cc7f483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08eccd042ce4c19" /><Relationship Type="http://schemas.openxmlformats.org/officeDocument/2006/relationships/slideLayout" Target="/ppt/slideLayouts/slideLayout1.xml" Id="Rc07657193610411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07657193610411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2e7a083a074174" /><Relationship Type="http://schemas.openxmlformats.org/officeDocument/2006/relationships/notesSlide" Target="/ppt/notesSlides/notesSlide1.xml" Id="R84ccb32e119b497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35FA8E-93FD-40B5-A703-D9BA7A1C4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096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ECD5B8-1B55-48DE-8ACA-CBE042859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29000"/>
            <a:ext cx="6096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A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CC6F34-F2B5-4D93-AF1A-C8BF236DF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6096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31642B-ABEB-4305-93F2-50F008083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71450"/>
            <a:ext cx="19050" cy="651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6C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0D0B77-ECD5-413E-A593-24D828A5F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409950"/>
            <a:ext cx="1184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6C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743CA3-3A80-4297-BF33-2577C1E2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19075"/>
            <a:ext cx="514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C6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C63"/>
                </a:solidFill>
                <a:latin typeface="Arial"/>
                <a:ea typeface="Arial"/>
                <a:cs typeface="Arial"/>
              </a:rPr>
              <a:t>Technical feasibility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907803-5404-44BA-91D7-0435EAA15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0960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ADFC54-20F1-473C-8BFB-85E3E30EB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752475"/>
            <a:ext cx="5429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38100" bIns="0" anchor="t">
            <a:normAutofit fontScale="97402"/>
          </a:bodyPr>
          <a:lstStyle xmlns:a="http://schemas.openxmlformats.org/drawingml/2006/main"/>
          <a:p xmlns:a="http://schemas.openxmlformats.org/drawingml/2006/main">
            <a:pPr marL="228600" indent="-127000">
              <a:spcAft>
                <a:spcPts val="620"/>
              </a:spcAft>
              <a:buChar char="•"/>
              <a:defRPr sz="1650">
                <a:solidFill>
                  <a:srgbClr val="293A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93A4B"/>
                </a:solidFill>
                <a:latin typeface="Arial"/>
                <a:ea typeface="Arial"/>
                <a:cs typeface="Arial"/>
              </a:rPr>
              <a:t>End-to-end pipeline: </a:t>
            </a:r>
            <a:r>
              <a:rPr sz="1650">
                <a:solidFill>
                  <a:srgbClr val="293A4B"/>
                </a:solidFill>
                <a:latin typeface="Arial"/>
                <a:ea typeface="Arial"/>
                <a:cs typeface="Arial"/>
              </a:rPr>
              <a:t>One 4.19-minute flight produced a georeferenced reconstruction from 253 selected frames.</a:t>
            </a:r>
          </a:p>
          <a:p xmlns:a="http://schemas.openxmlformats.org/drawingml/2006/main">
            <a:pPr marL="228600" indent="-127000">
              <a:spcAft>
                <a:spcPts val="620"/>
              </a:spcAft>
              <a:buChar char="•"/>
              <a:defRPr sz="1650">
                <a:solidFill>
                  <a:srgbClr val="293A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93A4B"/>
                </a:solidFill>
                <a:latin typeface="Arial"/>
                <a:ea typeface="Arial"/>
                <a:cs typeface="Arial"/>
              </a:rPr>
              <a:t>Verified output: </a:t>
            </a:r>
            <a:r>
              <a:rPr sz="1650">
                <a:solidFill>
                  <a:srgbClr val="293A4B"/>
                </a:solidFill>
                <a:latin typeface="Arial"/>
                <a:ea typeface="Arial"/>
                <a:cs typeface="Arial"/>
              </a:rPr>
              <a:t>604,982 coloured points, a 361,510-face mesh, and a textured GLB were generated.</a:t>
            </a:r>
          </a:p>
          <a:p xmlns:a="http://schemas.openxmlformats.org/drawingml/2006/main">
            <a:pPr marL="228600" indent="-127000">
              <a:spcAft>
                <a:spcPts val="620"/>
              </a:spcAft>
              <a:buChar char="•"/>
              <a:defRPr sz="1650">
                <a:solidFill>
                  <a:srgbClr val="293A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93A4B"/>
                </a:solidFill>
                <a:latin typeface="Arial"/>
                <a:ea typeface="Arial"/>
                <a:cs typeface="Arial"/>
              </a:rPr>
              <a:t>GIS interoperability: </a:t>
            </a:r>
            <a:r>
              <a:rPr sz="1650">
                <a:solidFill>
                  <a:srgbClr val="293A4B"/>
                </a:solidFill>
                <a:latin typeface="Arial"/>
                <a:ea typeface="Arial"/>
                <a:cs typeface="Arial"/>
              </a:rPr>
              <a:t>LAS and GeoTIFF passed structural checks with EPSG:32610 metadata.</a:t>
            </a:r>
          </a:p>
          <a:p xmlns:a="http://schemas.openxmlformats.org/drawingml/2006/main">
            <a:pPr marL="228600" indent="-127000">
              <a:spcAft>
                <a:spcPts val="620"/>
              </a:spcAft>
              <a:buChar char="•"/>
              <a:defRPr sz="1650">
                <a:solidFill>
                  <a:srgbClr val="293A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93A4B"/>
                </a:solidFill>
                <a:latin typeface="Arial"/>
                <a:ea typeface="Arial"/>
                <a:cs typeface="Arial"/>
              </a:rPr>
              <a:t>Reconstruction quality: </a:t>
            </a:r>
            <a:r>
              <a:rPr sz="1650">
                <a:solidFill>
                  <a:srgbClr val="293A4B"/>
                </a:solidFill>
                <a:latin typeface="Arial"/>
                <a:ea typeface="Arial"/>
                <a:cs typeface="Arial"/>
              </a:rPr>
              <a:t>Mean reprojection error reached 0.458 px and the capture-quality screen passed.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C0AD04-6878-4735-80FA-56B07B64B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9075"/>
            <a:ext cx="523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C6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C63"/>
                </a:solidFill>
                <a:latin typeface="Arial"/>
                <a:ea typeface="Arial"/>
                <a:cs typeface="Arial"/>
              </a:rPr>
              <a:t>Implementation feasibility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EFE38E-F7E4-4BF1-B187-BA986539F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60960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F9A0E9-DFE4-41D9-8F31-4E8D6A58C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752475"/>
            <a:ext cx="5429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38100" bIns="0" anchor="t">
            <a:normAutofit fontScale="98990"/>
          </a:bodyPr>
          <a:lstStyle xmlns:a="http://schemas.openxmlformats.org/drawingml/2006/main"/>
          <a:p xmlns:a="http://schemas.openxmlformats.org/drawingml/2006/main">
            <a:pPr marL="228600" indent="-127000">
              <a:spcAft>
                <a:spcPts val="620"/>
              </a:spcAft>
              <a:buChar char="•"/>
              <a:defRPr sz="1650">
                <a:solidFill>
                  <a:srgbClr val="293A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93A4B"/>
                </a:solidFill>
                <a:latin typeface="Arial"/>
                <a:ea typeface="Arial"/>
                <a:cs typeface="Arial"/>
              </a:rPr>
              <a:t>GPU workflow: </a:t>
            </a:r>
            <a:r>
              <a:rPr sz="1650">
                <a:solidFill>
                  <a:srgbClr val="293A4B"/>
                </a:solidFill>
                <a:latin typeface="Arial"/>
                <a:ea typeface="Arial"/>
                <a:cs typeface="Arial"/>
              </a:rPr>
              <a:t>COLMAP 4.2 used CUDA on a Tesla T4. Dense stereo reached 100% peak GPU use.</a:t>
            </a:r>
          </a:p>
          <a:p xmlns:a="http://schemas.openxmlformats.org/drawingml/2006/main">
            <a:pPr marL="228600" indent="-127000">
              <a:spcAft>
                <a:spcPts val="620"/>
              </a:spcAft>
              <a:buChar char="•"/>
              <a:defRPr sz="1650">
                <a:solidFill>
                  <a:srgbClr val="293A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93A4B"/>
                </a:solidFill>
                <a:latin typeface="Arial"/>
                <a:ea typeface="Arial"/>
                <a:cs typeface="Arial"/>
              </a:rPr>
              <a:t>Runtime progress: </a:t>
            </a:r>
            <a:r>
              <a:rPr sz="1650">
                <a:solidFill>
                  <a:srgbClr val="293A4B"/>
                </a:solidFill>
                <a:latin typeface="Arial"/>
                <a:ea typeface="Arial"/>
                <a:cs typeface="Arial"/>
              </a:rPr>
              <a:t>Wall time fell from 80.75 to 28.81 minutes, a 64% reduction across documented runs.</a:t>
            </a:r>
          </a:p>
          <a:p xmlns:a="http://schemas.openxmlformats.org/drawingml/2006/main">
            <a:pPr marL="228600" indent="-127000">
              <a:spcAft>
                <a:spcPts val="620"/>
              </a:spcAft>
              <a:buChar char="•"/>
              <a:defRPr sz="1650">
                <a:solidFill>
                  <a:srgbClr val="293A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93A4B"/>
                </a:solidFill>
                <a:latin typeface="Arial"/>
                <a:ea typeface="Arial"/>
                <a:cs typeface="Arial"/>
              </a:rPr>
              <a:t>Automated operation: </a:t>
            </a:r>
            <a:r>
              <a:rPr sz="1650">
                <a:solidFill>
                  <a:srgbClr val="293A4B"/>
                </a:solidFill>
                <a:latin typeface="Arial"/>
                <a:ea typeface="Arial"/>
                <a:cs typeface="Arial"/>
              </a:rPr>
              <a:t>One Colab command handles keyframes, telemetry, reconstruction, export and verification.</a:t>
            </a:r>
          </a:p>
          <a:p xmlns:a="http://schemas.openxmlformats.org/drawingml/2006/main">
            <a:pPr marL="228600" indent="-127000">
              <a:spcAft>
                <a:spcPts val="620"/>
              </a:spcAft>
              <a:buChar char="•"/>
              <a:defRPr sz="1650">
                <a:solidFill>
                  <a:srgbClr val="293A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93A4B"/>
                </a:solidFill>
                <a:latin typeface="Arial"/>
                <a:ea typeface="Arial"/>
                <a:cs typeface="Arial"/>
              </a:rPr>
              <a:t>Metric viewer: </a:t>
            </a:r>
            <a:r>
              <a:rPr sz="1650">
                <a:solidFill>
                  <a:srgbClr val="293A4B"/>
                </a:solidFill>
                <a:latin typeface="Arial"/>
                <a:ea typeface="Arial"/>
                <a:cs typeface="Arial"/>
              </a:rPr>
              <a:t>GLB and metadata preserve local ENU coordinates for distance measurement.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612168-19EC-4E0D-897C-4914AC95C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638550"/>
            <a:ext cx="514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C6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C63"/>
                </a:solidFill>
                <a:latin typeface="Arial"/>
                <a:ea typeface="Arial"/>
                <a:cs typeface="Arial"/>
              </a:rPr>
              <a:t>Current challenges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950FA3-D848-48EF-99F0-6E5886943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29075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D9843A-FCF2-4684-B20A-C9CD2E829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171950"/>
            <a:ext cx="54292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38100" bIns="0" anchor="t">
            <a:normAutofit fontScale="93939"/>
          </a:bodyPr>
          <a:lstStyle xmlns:a="http://schemas.openxmlformats.org/drawingml/2006/main"/>
          <a:p xmlns:a="http://schemas.openxmlformats.org/drawingml/2006/main">
            <a:pPr marL="228600" indent="-127000">
              <a:spcAft>
                <a:spcPts val="620"/>
              </a:spcAft>
              <a:buChar char="•"/>
              <a:defRPr sz="1650">
                <a:solidFill>
                  <a:srgbClr val="293A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93A4B"/>
                </a:solidFill>
                <a:latin typeface="Arial"/>
                <a:ea typeface="Arial"/>
                <a:cs typeface="Arial"/>
              </a:rPr>
              <a:t>Runtime target: </a:t>
            </a:r>
            <a:r>
              <a:rPr sz="1650">
                <a:solidFill>
                  <a:srgbClr val="293A4B"/>
                </a:solidFill>
                <a:latin typeface="Arial"/>
                <a:ea typeface="Arial"/>
                <a:cs typeface="Arial"/>
              </a:rPr>
              <a:t>The latest 28.81-minute run remains above the required 15 minutes.</a:t>
            </a:r>
          </a:p>
          <a:p xmlns:a="http://schemas.openxmlformats.org/drawingml/2006/main">
            <a:pPr marL="228600" indent="-127000">
              <a:spcAft>
                <a:spcPts val="620"/>
              </a:spcAft>
              <a:buChar char="•"/>
              <a:defRPr sz="1650">
                <a:solidFill>
                  <a:srgbClr val="293A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93A4B"/>
                </a:solidFill>
                <a:latin typeface="Arial"/>
                <a:ea typeface="Arial"/>
                <a:cs typeface="Arial"/>
              </a:rPr>
              <a:t>Accuracy evidence: </a:t>
            </a:r>
            <a:r>
              <a:rPr sz="1650">
                <a:solidFill>
                  <a:srgbClr val="293A4B"/>
                </a:solidFill>
                <a:latin typeface="Arial"/>
                <a:ea typeface="Arial"/>
                <a:cs typeface="Arial"/>
              </a:rPr>
              <a:t>Independent checkpoint RMSE is absent. The 1.835 m GPS RMSE is only a camera diagnostic.</a:t>
            </a:r>
          </a:p>
          <a:p xmlns:a="http://schemas.openxmlformats.org/drawingml/2006/main">
            <a:pPr marL="228600" indent="-127000">
              <a:spcAft>
                <a:spcPts val="620"/>
              </a:spcAft>
              <a:buChar char="•"/>
              <a:defRPr sz="1650">
                <a:solidFill>
                  <a:srgbClr val="293A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93A4B"/>
                </a:solidFill>
                <a:latin typeface="Arial"/>
                <a:ea typeface="Arial"/>
                <a:cs typeface="Arial"/>
              </a:rPr>
              <a:t>Registration: </a:t>
            </a:r>
            <a:r>
              <a:rPr sz="1650">
                <a:solidFill>
                  <a:srgbClr val="293A4B"/>
                </a:solidFill>
                <a:latin typeface="Arial"/>
                <a:ea typeface="Arial"/>
                <a:cs typeface="Arial"/>
              </a:rPr>
              <a:t>81.82% of selected images registered, below the current 90% production gate.</a:t>
            </a:r>
          </a:p>
          <a:p xmlns:a="http://schemas.openxmlformats.org/drawingml/2006/main">
            <a:pPr marL="228600" indent="-127000">
              <a:spcAft>
                <a:spcPts val="620"/>
              </a:spcAft>
              <a:buChar char="•"/>
              <a:defRPr sz="1650">
                <a:solidFill>
                  <a:srgbClr val="293A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93A4B"/>
                </a:solidFill>
                <a:latin typeface="Arial"/>
                <a:ea typeface="Arial"/>
                <a:cs typeface="Arial"/>
              </a:rPr>
              <a:t>Coverage and robustness: </a:t>
            </a:r>
            <a:r>
              <a:rPr sz="1650">
                <a:solidFill>
                  <a:srgbClr val="293A4B"/>
                </a:solidFill>
                <a:latin typeface="Arial"/>
                <a:ea typeface="Arial"/>
                <a:cs typeface="Arial"/>
              </a:rPr>
              <a:t>DSM coverage is 13.84%, and the archived run skipped dynamic-object masking.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9918E5-AC64-4420-84FA-7C6E5BECA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38550"/>
            <a:ext cx="542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C6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C63"/>
                </a:solidFill>
                <a:latin typeface="Arial"/>
                <a:ea typeface="Arial"/>
                <a:cs typeface="Arial"/>
              </a:rPr>
              <a:t>Evidence and improvement strategy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FFC2F2-6D4D-4DE2-BD7D-BEB61AB08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29075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BFBEAC-9E71-4C32-8C2C-F1BA9092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71950"/>
            <a:ext cx="54292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38100" bIns="0" anchor="t">
            <a:normAutofit fontScale="91930"/>
          </a:bodyPr>
          <a:lstStyle xmlns:a="http://schemas.openxmlformats.org/drawingml/2006/main"/>
          <a:p xmlns:a="http://schemas.openxmlformats.org/drawingml/2006/main">
            <a:pPr marL="228600" indent="-127000">
              <a:spcAft>
                <a:spcPts val="620"/>
              </a:spcAft>
              <a:buChar char="•"/>
              <a:defRPr sz="1650">
                <a:solidFill>
                  <a:srgbClr val="293A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93A4B"/>
                </a:solidFill>
                <a:latin typeface="Arial"/>
                <a:ea typeface="Arial"/>
                <a:cs typeface="Arial"/>
              </a:rPr>
              <a:t>Accuracy proof: </a:t>
            </a:r>
            <a:r>
              <a:rPr sz="1650">
                <a:solidFill>
                  <a:srgbClr val="293A4B"/>
                </a:solidFill>
                <a:latin typeface="Arial"/>
                <a:ea typeface="Arial"/>
                <a:cs typeface="Arial"/>
              </a:rPr>
              <a:t>Survey at least three holdout checkpoints and report 3D RMSE below 1.0 m.</a:t>
            </a:r>
          </a:p>
          <a:p xmlns:a="http://schemas.openxmlformats.org/drawingml/2006/main">
            <a:pPr marL="228600" indent="-127000">
              <a:spcAft>
                <a:spcPts val="620"/>
              </a:spcAft>
              <a:buChar char="•"/>
              <a:defRPr sz="1650">
                <a:solidFill>
                  <a:srgbClr val="293A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93A4B"/>
                </a:solidFill>
                <a:latin typeface="Arial"/>
                <a:ea typeface="Arial"/>
                <a:cs typeface="Arial"/>
              </a:rPr>
              <a:t>Runtime focus: </a:t>
            </a:r>
            <a:r>
              <a:rPr sz="1650">
                <a:solidFill>
                  <a:srgbClr val="293A4B"/>
                </a:solidFill>
                <a:latin typeface="Arial"/>
                <a:ea typeface="Arial"/>
                <a:cs typeface="Arial"/>
              </a:rPr>
              <a:t>Optimize dense stereo and sparse mapping. The measured run needs a further 1.92x speedup.</a:t>
            </a:r>
          </a:p>
          <a:p xmlns:a="http://schemas.openxmlformats.org/drawingml/2006/main">
            <a:pPr marL="228600" indent="-127000">
              <a:spcAft>
                <a:spcPts val="620"/>
              </a:spcAft>
              <a:buChar char="•"/>
              <a:defRPr sz="1650">
                <a:solidFill>
                  <a:srgbClr val="293A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93A4B"/>
                </a:solidFill>
                <a:latin typeface="Arial"/>
                <a:ea typeface="Arial"/>
                <a:cs typeface="Arial"/>
              </a:rPr>
              <a:t>Capture improvement: </a:t>
            </a:r>
            <a:r>
              <a:rPr sz="1650">
                <a:solidFill>
                  <a:srgbClr val="293A4B"/>
                </a:solidFill>
                <a:latin typeface="Arial"/>
                <a:ea typeface="Arial"/>
                <a:cs typeface="Arial"/>
              </a:rPr>
              <a:t>Increase overlap and use camera calibration to improve registration and DSM coverage.</a:t>
            </a:r>
          </a:p>
          <a:p xmlns:a="http://schemas.openxmlformats.org/drawingml/2006/main">
            <a:pPr marL="228600" indent="-127000">
              <a:spcAft>
                <a:spcPts val="620"/>
              </a:spcAft>
              <a:buChar char="•"/>
              <a:defRPr sz="1650">
                <a:solidFill>
                  <a:srgbClr val="293A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93A4B"/>
                </a:solidFill>
                <a:latin typeface="Arial"/>
                <a:ea typeface="Arial"/>
                <a:cs typeface="Arial"/>
              </a:rPr>
              <a:t>Judge demonstration: </a:t>
            </a:r>
            <a:r>
              <a:rPr sz="1650">
                <a:solidFill>
                  <a:srgbClr val="293A4B"/>
                </a:solidFill>
                <a:latin typeface="Arial"/>
                <a:ea typeface="Arial"/>
                <a:cs typeface="Arial"/>
              </a:rPr>
              <a:t>Add the viewer measurement, QGIS DSM, CloudCompare LAS, and an AI-mask comparison.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CAE193-424C-48FA-BF85-BE0B217E8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638925"/>
            <a:ext cx="838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98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8798A"/>
                </a:solidFill>
                <a:latin typeface="Arial"/>
                <a:ea typeface="Arial"/>
                <a:cs typeface="Arial"/>
              </a:rPr>
              <a:t>Evidence source: optimized_v1 output archive, run_report.json and verification_report.json</a:t>
            </a:r>
          </a:p>
        </p:txBody>
      </p:sp>
    </p:spTree>
    <p:extLst>
      <p:ext uri="{BB962C8B-B14F-4D97-AF65-F5344CB8AC3E}">
        <p14:creationId xmlns:p14="http://schemas.microsoft.com/office/powerpoint/2010/main" val="3893443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2026-09-15T05:10:58.5250000Z</dcterms:created>
  <dcterms:modified xsi:type="dcterms:W3CDTF">2026-09-15T05:10:58.5250000Z</dcterms:modified>
</coreProperties>
</file>
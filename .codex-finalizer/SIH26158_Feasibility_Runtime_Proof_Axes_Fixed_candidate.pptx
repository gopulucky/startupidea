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4b8764e4ca249ff" /><Relationship Type="http://schemas.openxmlformats.org/officeDocument/2006/relationships/extended-properties" Target="/docProps/app.xml" Id="R2bbfa8afd8a74ddb" /><Relationship Type="http://schemas.openxmlformats.org/officeDocument/2006/relationships/officeDocument" Target="/ppt/presentation.xml" Id="R2782bc8e465c4ad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8694be2a817424a"/>
  </p:sldMasterIdLst>
  <p:notesMasterIdLst>
    <p:notesMasterId xmlns:r="http://schemas.openxmlformats.org/officeDocument/2006/relationships" r:id="Rbde5f752077f4a42"/>
  </p:notesMasterIdLst>
  <p:sldIdLst>
    <p:sldId xmlns:r="http://schemas.openxmlformats.org/officeDocument/2006/relationships" id="256" r:id="R73c8622e415347e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3d8297508d044ea" /><Relationship Type="http://schemas.openxmlformats.org/officeDocument/2006/relationships/slideMaster" Target="/ppt/slideMasters/slideMaster1.xml" Id="R98694be2a817424a" /><Relationship Type="http://schemas.openxmlformats.org/officeDocument/2006/relationships/notesMaster" Target="/ppt/notesMasters/notesMaster1.xml" Id="Rbde5f752077f4a42" /><Relationship Type="http://schemas.openxmlformats.org/officeDocument/2006/relationships/presProps" Target="/ppt/presProps.xml" Id="R7744491afc05497c" /><Relationship Type="http://schemas.openxmlformats.org/officeDocument/2006/relationships/tableStyles" Target="/ppt/tableStyles.xml" Id="R5f59fc38549b4095" /><Relationship Type="http://schemas.openxmlformats.org/officeDocument/2006/relationships/slide" Target="/ppt/slides/slide1.xml" Id="R73c8622e415347e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1bee2f8f4f1473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930e20fcdf848db" /><Relationship Type="http://schemas.openxmlformats.org/officeDocument/2006/relationships/notesMaster" Target="/ppt/notesMasters/notesMaster1.xml" Id="R937a706a57174fc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optimized_v1/run_report.json; optimized_v1/verification_report.json; optimized_v1/preflight.json; optimized_v1/capture_quality.json.</a:t>
            </a:r>
          </a:p>
          <a:p xmlns:a="http://schemas.openxmlformats.org/drawingml/2006/main">
            <a:r>
              <a:t>Input image: SIH26158_HF_Drone_Full253_AB_Colab (1).ipynb, cell 5.</a:t>
            </a:r>
          </a:p>
          <a:p xmlns:a="http://schemas.openxmlformats.org/drawingml/2006/main">
            <a:r>
              <a:t>DSM image: the same notebook, cell 8. Geometry diagnostics: the same notebook, cell 7.</a:t>
            </a:r>
          </a:p>
          <a:p xmlns:a="http://schemas.openxmlformats.org/drawingml/2006/main">
            <a:r>
              <a:t>Runtime evidence: the archived run_report.json records 28.81 minutes for all 253 frames. The project team reports a 15-minute run after reducing the processed frame count. Historical baseline: 80.75 minutes.</a:t>
            </a:r>
          </a:p>
          <a:p xmlns:a="http://schemas.openxmlformats.org/drawingml/2006/main">
            <a:r>
              <a:t>The archive reports no surveyed checkpoints or independent reference surface, so the one-metre surface target remains unevaluated.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5e7d2c4aa84ec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7a7d8bca1104fd7" /><Relationship Type="http://schemas.openxmlformats.org/officeDocument/2006/relationships/slideLayout" Target="/ppt/slideLayouts/slideLayout1.xml" Id="R2bd328c2d1f642d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bd328c2d1f642d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3efe0489454572" /><Relationship Type="http://schemas.openxmlformats.org/officeDocument/2006/relationships/image" Target="/ppt/media/image.png" Id="Rc8abfc67b07a4b11" /><Relationship Type="http://schemas.openxmlformats.org/officeDocument/2006/relationships/image" Target="/ppt/media/image2.png" Id="R85149d57bc464b6b" /><Relationship Type="http://schemas.openxmlformats.org/officeDocument/2006/relationships/chart" Target="/ppt/slides/charts/chart1.xml" Id="R00e5fc4852e44a02" /><Relationship Type="http://schemas.openxmlformats.org/officeDocument/2006/relationships/image" Target="/ppt/media/image3.png" Id="R065ba82ecb58470f" /><Relationship Type="http://schemas.openxmlformats.org/officeDocument/2006/relationships/notesSlide" Target="/ppt/notesSlides/notesSlide1.xml" Id="R0726cf1fe10b43ef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Minutes</c:v>
          </c:tx>
          <c:spPr>
            <a:solidFill xmlns:a="http://schemas.openxmlformats.org/drawingml/2006/main">
              <a:srgbClr val="94B9D3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A9C4D7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0EA5A0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D88412"/>
              </a:solidFill>
            </c:spPr>
          </c:dPt>
          <c:cat>
            <c:strLit>
              <c:ptCount val="3"/>
              <c:pt idx="0">
                <c:v>Historical</c:v>
              </c:pt>
              <c:pt idx="1">
                <c:v>253 frames</c:v>
              </c:pt>
              <c:pt idx="2">
                <c:v>Reduced frames</c:v>
              </c:pt>
            </c:strLit>
          </c:cat>
          <c:val>
            <c:numLit>
              <c:formatCode>0.00</c:formatCode>
              <c:ptCount val="3"/>
              <c:pt idx="0">
                <c:v>80.75</c:v>
              </c:pt>
              <c:pt idx="1">
                <c:v>28.81</c:v>
              </c:pt>
              <c:pt idx="2">
                <c:v>15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172636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825">
                    <a:solidFill>
                      <a:srgbClr val="53687B"/>
                    </a:solidFill>
                    <a:latin typeface="Arial"/>
                    <a:ea typeface="Arial"/>
                    <a:cs typeface="Arial"/>
                  </a:rPr>
                  <a:t>Runtime (minutes)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>
                  <a:solidFill>
                    <a:srgbClr val="53687B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5DFE7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3687B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825">
                    <a:solidFill>
                      <a:srgbClr val="53687B"/>
                    </a:solidFill>
                    <a:latin typeface="Arial"/>
                    <a:ea typeface="Arial"/>
                    <a:cs typeface="Arial"/>
                  </a:rPr>
                  <a:t>Processing mode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>
                  <a:solidFill>
                    <a:srgbClr val="53687B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5DFE7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17263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7F9FC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7F9FC"/>
    </a:solidFill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619579E-82CA-4DED-83BA-F1B98186E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8600"/>
            <a:ext cx="9239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636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72636"/>
                </a:solidFill>
                <a:latin typeface="Arial"/>
                <a:ea typeface="Arial"/>
                <a:cs typeface="Arial"/>
              </a:rPr>
              <a:t>Feasibility proof from completed drone-video runs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D7B51A-79EF-4705-9184-5F3958243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857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EA5A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A5A0"/>
                </a:solidFill>
                <a:latin typeface="Arial"/>
                <a:ea typeface="Arial"/>
                <a:cs typeface="Arial"/>
              </a:rPr>
              <a:t>SIH26158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C58B34-2A13-48E8-9A0F-E8D0A17A9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742950"/>
            <a:ext cx="11468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9F9E2D-74C1-4514-9BEE-A74AC2B53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914400"/>
            <a:ext cx="19050" cy="527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7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FA03D2-9CB6-4B41-87E9-04CF0F244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495675"/>
            <a:ext cx="11468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7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7E78AA-C186-4F4E-BB21-0E037A3B0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52500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A5A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EA5A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680F76-6E19-4116-BBC0-34B1B9104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33450"/>
            <a:ext cx="2857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3A5F"/>
                </a:solidFill>
                <a:latin typeface="Arial"/>
                <a:ea typeface="Arial"/>
                <a:cs typeface="Arial"/>
              </a:rPr>
              <a:t>INPUT CAPTURE</a:t>
            </a:r>
          </a:p>
        </p:txBody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abfc67b07a4b11"/>
          <a:srcRect xmlns:a="http://schemas.openxmlformats.org/drawingml/2006/main" l="0" t="19524" r="0" b="195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9100" y="1295400"/>
            <a:ext cx="5381625" cy="17526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4B263A-B09B-4200-9EDB-1393FD0EA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048000"/>
            <a:ext cx="5381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A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A93965-D101-4F5C-AD15-36DFDC3F1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3124200"/>
            <a:ext cx="514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4.19-minute flight     253 keyframes     2,525 telemetry samples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5C086A-08F4-491E-BF15-58AF83E0F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952500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A5A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EA5A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B658CD-8D57-4406-9489-AB645B69B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933450"/>
            <a:ext cx="2857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3A5F"/>
                </a:solidFill>
                <a:latin typeface="Arial"/>
                <a:ea typeface="Arial"/>
                <a:cs typeface="Arial"/>
              </a:rPr>
              <a:t>OUTPUT PRODUCTS</a:t>
            </a:r>
          </a:p>
        </p:txBody>
      </p:sp>
      <p:pic>
        <p:nvPicPr>
          <p:cNvPr id="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149d57bc464b6b"/>
          <a:stretch xmlns:a="http://schemas.openxmlformats.org/drawingml/2006/main"/>
        </p:blipFill>
        <p:spPr>
          <a:xfrm xmlns:a="http://schemas.openxmlformats.org/drawingml/2006/main">
            <a:off x="6661197" y="1285875"/>
            <a:ext cx="1822356" cy="205740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191D00-8FAE-4050-9532-BEA08A40A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352550"/>
            <a:ext cx="2333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6AA9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76AA9"/>
                </a:solidFill>
                <a:latin typeface="Arial"/>
                <a:ea typeface="Arial"/>
                <a:cs typeface="Arial"/>
              </a:rPr>
              <a:t>604,982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2D0B58-DB6F-423A-8D5A-F4710DE39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847850"/>
            <a:ext cx="2095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3687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3687B"/>
                </a:solidFill>
                <a:latin typeface="Arial"/>
                <a:ea typeface="Arial"/>
                <a:cs typeface="Arial"/>
              </a:rPr>
              <a:t>COLOURED POINTS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EE56C4-E736-4939-ABF1-BA0B1F3C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143125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636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636"/>
                </a:solidFill>
                <a:latin typeface="Arial"/>
                <a:ea typeface="Arial"/>
                <a:cs typeface="Arial"/>
              </a:rPr>
              <a:t>361,510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24C52F-2841-491E-9156-53DEA4A82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543175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3687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3687B"/>
                </a:solidFill>
                <a:latin typeface="Arial"/>
                <a:ea typeface="Arial"/>
                <a:cs typeface="Arial"/>
              </a:rPr>
              <a:t>MESH FACES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E57BC8-C406-47A3-93FF-E19199D05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895600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845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845C"/>
                </a:solidFill>
                <a:latin typeface="Arial"/>
                <a:ea typeface="Arial"/>
                <a:cs typeface="Arial"/>
              </a:rPr>
              <a:t>GLB, LAS and GeoTIFF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C3D427-3D16-4356-9F0B-90E3F8980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152775"/>
            <a:ext cx="2381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87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87B"/>
                </a:solidFill>
                <a:latin typeface="Arial"/>
                <a:ea typeface="Arial"/>
                <a:cs typeface="Arial"/>
              </a:rPr>
              <a:t>EPSG:32610    DSM 0.5 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A59414-C832-448D-B169-E15FCB051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714750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A5A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EA5A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5F9B3A-A024-4B31-9D68-A9651E390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95700"/>
            <a:ext cx="2857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3A5F"/>
                </a:solidFill>
                <a:latin typeface="Arial"/>
                <a:ea typeface="Arial"/>
                <a:cs typeface="Arial"/>
              </a:rPr>
              <a:t>RUNTIME PROOF</a:t>
            </a:r>
          </a:p>
        </p:txBody>
      </p:sp>
      <p:graphicFrame>
        <p:nvGraphicFramePr>
          <p:cNvPr id="61" name="Chart"/>
          <p:cNvGraphicFramePr/>
          <p:nvPr/>
        </p:nvGraphicFramePr>
        <p:xfrm>
          <a:off xmlns:a="http://schemas.openxmlformats.org/drawingml/2006/main" x="361950" y="4057650"/>
          <a:ext xmlns:a="http://schemas.openxmlformats.org/drawingml/2006/main" cx="4076700" cy="20193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0e5fc4852e44a02"/>
          </a:graphicData>
        </a:graphic>
      </p:graphicFrame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62412C-83E4-4657-9301-764740DFF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171950"/>
            <a:ext cx="1257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0EA5A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A5A0"/>
                </a:solidFill>
                <a:latin typeface="Arial"/>
                <a:ea typeface="Arial"/>
                <a:cs typeface="Arial"/>
              </a:rPr>
              <a:t>15 min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DA646EA-A3E2-444A-8BD7-206E6F42D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667250"/>
            <a:ext cx="125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53687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3687B"/>
                </a:solidFill>
                <a:latin typeface="Arial"/>
                <a:ea typeface="Arial"/>
                <a:cs typeface="Arial"/>
              </a:rPr>
              <a:t>reduced frames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3C68A9C-17D4-4A0C-93E5-98DBB520C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876800"/>
            <a:ext cx="1257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4845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4845C"/>
                </a:solidFill>
                <a:latin typeface="Arial"/>
                <a:ea typeface="Arial"/>
                <a:cs typeface="Arial"/>
              </a:rPr>
              <a:t>target achieved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F3BA7AD-9964-40BA-8A9C-AEA34CA71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314950"/>
            <a:ext cx="12573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63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636"/>
                </a:solidFill>
                <a:latin typeface="Arial"/>
                <a:ea typeface="Arial"/>
                <a:cs typeface="Arial"/>
              </a:rPr>
              <a:t>28.81 min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779F0E0-81EE-4791-9B0A-12E83B642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5629275"/>
            <a:ext cx="1123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3687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87B"/>
                </a:solidFill>
                <a:latin typeface="Arial"/>
                <a:ea typeface="Arial"/>
                <a:cs typeface="Arial"/>
              </a:rPr>
              <a:t>all 253 frames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F62FEC7-3B6A-4748-B32C-4DEFD28CF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714750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A5A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EA5A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D101585-9515-42CC-866B-64E86A556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3695700"/>
            <a:ext cx="2857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3A5F"/>
                </a:solidFill>
                <a:latin typeface="Arial"/>
                <a:ea typeface="Arial"/>
                <a:cs typeface="Arial"/>
              </a:rPr>
              <a:t>QUALITY EVIDENCE</a:t>
            </a:r>
          </a:p>
        </p:txBody>
      </p:sp>
      <p:pic>
        <p:nvPicPr>
          <p:cNvPr id="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5ba82ecb58470f"/>
          <a:stretch xmlns:a="http://schemas.openxmlformats.org/drawingml/2006/main"/>
        </p:blipFill>
        <p:spPr>
          <a:xfrm xmlns:a="http://schemas.openxmlformats.org/drawingml/2006/main">
            <a:off x="6493454" y="4067175"/>
            <a:ext cx="3205591" cy="1962150"/>
          </a:xfrm>
          <a:prstGeom xmlns:a="http://schemas.openxmlformats.org/drawingml/2006/main" prst="rect">
            <a:avLst/>
          </a:prstGeom>
        </p:spPr>
      </p:pic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038502E-92D8-4C10-B377-33875601D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4133850"/>
            <a:ext cx="1428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4845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845C"/>
                </a:solidFill>
                <a:latin typeface="Arial"/>
                <a:ea typeface="Arial"/>
                <a:cs typeface="Arial"/>
              </a:rPr>
              <a:t>PASS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BB56F7F-BC70-4A07-94BC-76ED70ACF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44291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3687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87B"/>
                </a:solidFill>
                <a:latin typeface="Arial"/>
                <a:ea typeface="Arial"/>
                <a:cs typeface="Arial"/>
              </a:rPr>
              <a:t>capture screen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E9A5DA8-5855-499E-94B3-4952458A6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4810125"/>
            <a:ext cx="1428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6AA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6AA9"/>
                </a:solidFill>
                <a:latin typeface="Arial"/>
                <a:ea typeface="Arial"/>
                <a:cs typeface="Arial"/>
              </a:rPr>
              <a:t>0.458 px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03C0525-CAE6-40E3-8D52-EA3F58C0E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51054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3687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87B"/>
                </a:solidFill>
                <a:latin typeface="Arial"/>
                <a:ea typeface="Arial"/>
                <a:cs typeface="Arial"/>
              </a:rPr>
              <a:t>reprojection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091A30E-66B9-4A6B-845C-6BF870680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5486400"/>
            <a:ext cx="1428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8464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C84646"/>
                </a:solidFill>
                <a:latin typeface="Arial"/>
                <a:ea typeface="Arial"/>
                <a:cs typeface="Arial"/>
              </a:rPr>
              <a:t>81.82%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3ADF03D-9BAD-4D1C-A297-92548EAFC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578167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3687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87B"/>
                </a:solidFill>
                <a:latin typeface="Arial"/>
                <a:ea typeface="Arial"/>
                <a:cs typeface="Arial"/>
              </a:rPr>
              <a:t>registered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83E6736-4D05-44B3-AED9-3BE952CC5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286500"/>
            <a:ext cx="11468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52EAD32-0DBF-412B-8A5D-8915F0B0E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91275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8841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D88412"/>
                </a:solidFill>
                <a:latin typeface="Arial"/>
                <a:ea typeface="Arial"/>
                <a:cs typeface="Arial"/>
              </a:rPr>
              <a:t>Accuracy proof pending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92ED47B-82BA-426E-A708-2741CD6D2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6391275"/>
            <a:ext cx="8991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63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636"/>
                </a:solidFill>
                <a:latin typeface="Arial"/>
                <a:ea typeface="Arial"/>
                <a:cs typeface="Arial"/>
              </a:rPr>
              <a:t>Independent checkpoint RMSE has not been evaluated. GPS camera RMSE cannot prove the one-metre surface target.</a:t>
            </a:r>
          </a:p>
        </p:txBody>
      </p:sp>
    </p:spTree>
    <p:extLst>
      <p:ext uri="{BB962C8B-B14F-4D97-AF65-F5344CB8AC3E}">
        <p14:creationId xmlns:p14="http://schemas.microsoft.com/office/powerpoint/2010/main" val="156275142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2026-09-15T05:34:21.6400000Z</dcterms:created>
  <dcterms:modified xsi:type="dcterms:W3CDTF">2026-09-15T05:34:21.6400000Z</dcterms:modified>
</coreProperties>
</file>
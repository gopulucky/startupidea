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bcefa90da41e6" /><Relationship Type="http://schemas.openxmlformats.org/officeDocument/2006/relationships/extended-properties" Target="/docProps/app.xml" Id="R42a0af343dfc41e9" /><Relationship Type="http://schemas.openxmlformats.org/officeDocument/2006/relationships/officeDocument" Target="/ppt/presentation.xml" Id="Rb2e4667d80ea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4693cc09644946"/>
  </p:sldMasterIdLst>
  <p:notesMasterIdLst>
    <p:notesMasterId xmlns:r="http://schemas.openxmlformats.org/officeDocument/2006/relationships" r:id="R8e82dc1bb2da4b7e"/>
  </p:notesMasterIdLst>
  <p:sldIdLst>
    <p:sldId xmlns:r="http://schemas.openxmlformats.org/officeDocument/2006/relationships" id="256" r:id="R96c9e408936240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ed2ffb113a4fd4" /><Relationship Type="http://schemas.openxmlformats.org/officeDocument/2006/relationships/slideMaster" Target="/ppt/slideMasters/slideMaster1.xml" Id="R9d4693cc09644946" /><Relationship Type="http://schemas.openxmlformats.org/officeDocument/2006/relationships/notesMaster" Target="/ppt/notesMasters/notesMaster1.xml" Id="R8e82dc1bb2da4b7e" /><Relationship Type="http://schemas.openxmlformats.org/officeDocument/2006/relationships/presProps" Target="/ppt/presProps.xml" Id="Red9709ea9c0c4155" /><Relationship Type="http://schemas.openxmlformats.org/officeDocument/2006/relationships/tableStyles" Target="/ppt/tableStyles.xml" Id="R06525271147b411d" /><Relationship Type="http://schemas.openxmlformats.org/officeDocument/2006/relationships/slide" Target="/ppt/slides/slide1.xml" Id="R96c9e408936240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09f3f528c4a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22ac153394487" /><Relationship Type="http://schemas.openxmlformats.org/officeDocument/2006/relationships/notesMaster" Target="/ppt/notesMasters/notesMaster1.xml" Id="Rd00468129290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proxy: cumulative villages where drone flying was completed under India's SVAMITVA programme.</a:t>
            </a:r>
          </a:p>
          <a:p xmlns:a="http://schemas.openxmlformats.org/drawingml/2006/main">
            <a:r>
              <a:t>2021, 90,504 villages: https://www.pib.gov.in/PressReleasePage.aspx?PRID=1786259</a:t>
            </a:r>
          </a:p>
          <a:p xmlns:a="http://schemas.openxmlformats.org/drawingml/2006/main">
            <a:r>
              <a:t>2022, 203,118 villages: https://www.pib.gov.in/PressReleasePage.aspx?PRID=1885885</a:t>
            </a:r>
          </a:p>
          <a:p xmlns:a="http://schemas.openxmlformats.org/drawingml/2006/main">
            <a:r>
              <a:t>2023, 289,000 villages: https://www.pib.gov.in/Pressreleaseshare.aspx?PRID=1991702</a:t>
            </a:r>
          </a:p>
          <a:p xmlns:a="http://schemas.openxmlformats.org/drawingml/2006/main">
            <a:r>
              <a:t>2024, 317,000 villages: https://www.pib.gov.in/Pressreleaseshare.aspx?PRID=2090152</a:t>
            </a:r>
          </a:p>
          <a:p xmlns:a="http://schemas.openxmlformats.org/drawingml/2006/main">
            <a:r>
              <a:t>2025, 328,000 villages: https://www.pib.gov.in/PressReleasePage.aspx?PRID=2209532</a:t>
            </a:r>
          </a:p>
          <a:p xmlns:a="http://schemas.openxmlformats.org/drawingml/2006/main">
            <a:r>
              <a:t>SVAMITVA programme cost of ₹566.23 crore through FY 2025-26: https://static.pib.gov.in/WriteReadData/specificdocs/documents/2025/apr/doc2025423544601.pdf</a:t>
            </a:r>
          </a:p>
          <a:p xmlns:a="http://schemas.openxmlformats.org/drawingml/2006/main">
            <a:r>
              <a:t>Compute-cost index: historical 80.75 minutes = 100. Full run = 28.81 / 80.75 × 100 = 35.7. Rapid run = 15 / 80.75 × 100 = 18.6.</a:t>
            </a:r>
          </a:p>
          <a:p xmlns:a="http://schemas.openxmlformats.org/drawingml/2006/main">
            <a:r>
              <a:t>The cost index assumes the same usage-based GPU hourly rate. It does not estimate capture, labour, storage, software licensing or hardware depreciation.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9303bed3148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8f2bcffdea46ad" /><Relationship Type="http://schemas.openxmlformats.org/officeDocument/2006/relationships/slideLayout" Target="/ppt/slideLayouts/slideLayout1.xml" Id="Rf01ced59ba01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ced59ba01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8e666080d444f" /><Relationship Type="http://schemas.openxmlformats.org/officeDocument/2006/relationships/chart" Target="/ppt/slides/charts/chart1.xml" Id="Rf7872e7866274bfe" /><Relationship Type="http://schemas.openxmlformats.org/officeDocument/2006/relationships/chart" Target="/ppt/slides/charts/chart2.xml" Id="Rab207894dee24790" /><Relationship Type="http://schemas.openxmlformats.org/officeDocument/2006/relationships/notesSlide" Target="/ppt/notesSlides/notesSlide1.xml" Id="Rc23cb1f5add94c3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Villages surveyed, thousands</c:v>
          </c:tx>
          <c:spPr>
            <a:solidFill xmlns:a="http://schemas.openxmlformats.org/drawingml/2006/main">
              <a:srgbClr val="0EA5A0"/>
            </a:solidFill>
          </c:spPr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0.0</c:formatCode>
              <c:ptCount val="5"/>
              <c:pt idx="0">
                <c:v>90.504</c:v>
              </c:pt>
              <c:pt idx="1">
                <c:v>203.118</c:v>
              </c:pt>
              <c:pt idx="2">
                <c:v>289</c:v>
              </c:pt>
              <c:pt idx="3">
                <c:v>317</c:v>
              </c:pt>
              <c:pt idx="4">
                <c:v>328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Compute-cost index</c:v>
          </c:tx>
          <c:spPr>
            <a:solidFill xmlns:a="http://schemas.openxmlformats.org/drawingml/2006/main">
              <a:srgbClr val="A9C4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Our full</c:v>
              </c:pt>
              <c:pt idx="2">
                <c:v>Our rapid</c:v>
              </c:pt>
            </c:strLit>
          </c:cat>
          <c:val>
            <c:numLit>
              <c:formatCode>0.0</c:formatCode>
              <c:ptCount val="3"/>
              <c:pt idx="0">
                <c:v>100</c:v>
              </c:pt>
              <c:pt idx="1">
                <c:v>35.7</c:v>
              </c:pt>
              <c:pt idx="2">
                <c:v>18.6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24E61-0336-437B-B792-D5E48856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Economic impact: usage and processing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15AC3-6BB5-4497-8157-B65A481B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FA107-7FD1-4D48-B8D5-7697FB3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8FBBF-3490-4A1B-929C-BA11EFB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INDIA USAGE PROXY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2E7D9-9104-4291-A584-F3B8E70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SVAMITVA villages with completed drone surveys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3D486-5609-401B-8051-1EA17E99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62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OUR VARIABLE COMPUTE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FBFD9-7C28-4F7A-887E-BBF8260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096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Same GPU hourly rate, historical run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C3F49-F474-4351-8F7F-9E76CB7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19100" y="15049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872e7866274bf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BB69F-79B4-40ED-ADBC-89CAAA63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Villages surveyed (thousands)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7486650" y="160020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207894dee2479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93853-4E1F-4558-A671-F53018DD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Variable cost per run (index)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D2038-AF05-40D4-853D-200ED7E8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19700"/>
            <a:ext cx="1146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2864D-94D6-4B63-B070-590A1FF2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3.6×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53574-B899-4FE5-8141-908321A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usage growth since 2021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59C89-28DB-45D4-ACFB-DDF05AF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D451D-D6C5-4B98-A7B4-FD9490F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006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₹566.23 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25577-14D1-49ED-8139-AB19565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48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SVAMITVA programme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BC47B-3AE3-42E2-8B12-65A49CA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F92C9-61F8-4C47-BE4E-F0A7FCA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006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E1D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FE1D7"/>
                </a:solidFill>
                <a:latin typeface="Arial"/>
                <a:ea typeface="Arial"/>
                <a:cs typeface="Arial"/>
              </a:rPr>
              <a:t>81% lower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D90E8-B769-4E3B-A608-4186E73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48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GPU time in rapid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C94A2-50B9-4E0C-8DDC-BFA6788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133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Usage data: Government of India, Dec year-end values. Cost index assumes usage-based GPU billing and excludes capture, labour and software licensing.</a:t>
            </a:r>
          </a:p>
        </p:txBody>
      </p:sp>
    </p:spTree>
    <p:extLst>
      <p:ext uri="{BB962C8B-B14F-4D97-AF65-F5344CB8AC3E}">
        <p14:creationId xmlns:p14="http://schemas.microsoft.com/office/powerpoint/2010/main" val="483802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2026-09-15T06:25:14.6000000Z</dcterms:created>
  <dcterms:modified xsi:type="dcterms:W3CDTF">2026-09-15T06:25:14.6000000Z</dcterms:modified>
</coreProperties>
</file>
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2b2049df104edb" /><Relationship Type="http://schemas.openxmlformats.org/officeDocument/2006/relationships/extended-properties" Target="/docProps/app.xml" Id="R8829f6a466ad4482" /><Relationship Type="http://schemas.openxmlformats.org/officeDocument/2006/relationships/officeDocument" Target="/ppt/presentation.xml" Id="R720aaa9242db4a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e701536ad44fff"/>
  </p:sldMasterIdLst>
  <p:notesMasterIdLst>
    <p:notesMasterId xmlns:r="http://schemas.openxmlformats.org/officeDocument/2006/relationships" r:id="R3d234612d4974981"/>
  </p:notesMasterIdLst>
  <p:sldIdLst>
    <p:sldId xmlns:r="http://schemas.openxmlformats.org/officeDocument/2006/relationships" id="256" r:id="Re6189d32ca764598"/>
    <p:sldId xmlns:r="http://schemas.openxmlformats.org/officeDocument/2006/relationships" id="257" r:id="R0d13a590302541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20ff8ef7df4232" /><Relationship Type="http://schemas.openxmlformats.org/officeDocument/2006/relationships/slideMaster" Target="/ppt/slideMasters/slideMaster1.xml" Id="Rbbe701536ad44fff" /><Relationship Type="http://schemas.openxmlformats.org/officeDocument/2006/relationships/notesMaster" Target="/ppt/notesMasters/notesMaster1.xml" Id="R3d234612d4974981" /><Relationship Type="http://schemas.openxmlformats.org/officeDocument/2006/relationships/presProps" Target="/ppt/presProps.xml" Id="R2ce3e32e01a94dca" /><Relationship Type="http://schemas.openxmlformats.org/officeDocument/2006/relationships/tableStyles" Target="/ppt/tableStyles.xml" Id="R31490a14879e4e55" /><Relationship Type="http://schemas.openxmlformats.org/officeDocument/2006/relationships/slide" Target="/ppt/slides/slide1.xml" Id="Re6189d32ca764598" /><Relationship Type="http://schemas.openxmlformats.org/officeDocument/2006/relationships/slide" Target="/ppt/slides/slide2.xml" Id="R0d13a590302541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08585884bc4b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f9fa80535d4783" /><Relationship Type="http://schemas.openxmlformats.org/officeDocument/2006/relationships/notesMaster" Target="/ppt/notesMasters/notesMaster1.xml" Id="R8655993a95614b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ff81253fcc4aba" /><Relationship Type="http://schemas.openxmlformats.org/officeDocument/2006/relationships/notesMaster" Target="/ppt/notesMasters/notesMaster1.xml" Id="Rb7d063d219664c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optimized_v1/run_report.json; optimized_v1/verification_report.json; optimized_v1/preflight.json; optimized_v1/capture_quality.json.</a:t>
            </a:r>
          </a:p>
          <a:p xmlns:a="http://schemas.openxmlformats.org/drawingml/2006/main">
            <a:r>
              <a:t>Input image: SIH26158_HF_Drone_Full253_AB_Colab (1).ipynb, cell 5.</a:t>
            </a:r>
          </a:p>
          <a:p xmlns:a="http://schemas.openxmlformats.org/drawingml/2006/main">
            <a:r>
              <a:t>DSM image: the same notebook, cell 8. Geometry diagnostics: the same notebook, cell 7.</a:t>
            </a:r>
          </a:p>
          <a:p xmlns:a="http://schemas.openxmlformats.org/drawingml/2006/main">
            <a:r>
              <a:t>Runtime evidence: the archived run_report.json records 28.81 minutes for all 253 frames. The project team reports a 15-minute run after reducing the processed frame count. Historical baseline: 80.75 minutes.</a:t>
            </a:r>
          </a:p>
          <a:p xmlns:a="http://schemas.openxmlformats.org/drawingml/2006/main">
            <a:r>
              <a:t>The archive reports no surveyed checkpoints or independent reference surface, so the one-metre surface target remains unevaluated.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slide communicates deployment viability through existing drone inputs, two demonstrated runtime modes and standard output formats.</a:t>
            </a:r>
          </a:p>
          <a:p xmlns:a="http://schemas.openxmlformats.org/drawingml/2006/main">
            <a:r>
              <a:t>Flight-path image: SIH26158_HF_Drone_Full253_AB_Colab.ipynb, telemetry audit output.</a:t>
            </a:r>
          </a:p>
          <a:p xmlns:a="http://schemas.openxmlformats.org/drawingml/2006/main">
            <a:r>
              <a:t>DSM image: SIH26158_HF_Drone_Optimization_1088_Colab.ipynb, optimized candidate DSM output.</a:t>
            </a:r>
          </a:p>
          <a:p xmlns:a="http://schemas.openxmlformats.org/drawingml/2006/main">
            <a:r>
              <a:t>The archived run_report.json records 28.81 minutes for all 253 frames. The project team reports a 15-minute run after reducing the processed frame count.</a:t>
            </a:r>
          </a:p>
          <a:p xmlns:a="http://schemas.openxmlformats.org/drawingml/2006/main">
            <a:r>
              <a:t>Field-impact statements are qualitative benefits of remote capture, faster turnaround and interoperable outputs. They are not measured cost or response-time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311d2d753748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cba799a04e43d2" /><Relationship Type="http://schemas.openxmlformats.org/officeDocument/2006/relationships/slideLayout" Target="/ppt/slideLayouts/slideLayout1.xml" Id="R5882c8f404e04a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82c8f404e04a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2950f35e74dfa" /><Relationship Type="http://schemas.openxmlformats.org/officeDocument/2006/relationships/image" Target="/ppt/media/image.png" Id="R26e6fa5535e0452a" /><Relationship Type="http://schemas.openxmlformats.org/officeDocument/2006/relationships/image" Target="/ppt/media/image2.png" Id="Rffeb37cbc2c941f8" /><Relationship Type="http://schemas.openxmlformats.org/officeDocument/2006/relationships/chart" Target="/ppt/slides/charts/chart1.xml" Id="R92ea8bd3e6b2443d" /><Relationship Type="http://schemas.openxmlformats.org/officeDocument/2006/relationships/image" Target="/ppt/media/image3.png" Id="Ra78feb8d71c942a3" /><Relationship Type="http://schemas.openxmlformats.org/officeDocument/2006/relationships/notesSlide" Target="/ppt/notesSlides/notesSlide1.xml" Id="R642499975b674f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cfc4b488d4719" /><Relationship Type="http://schemas.openxmlformats.org/officeDocument/2006/relationships/image" Target="/ppt/media/image4.png" Id="R510a75a7e6be4da9" /><Relationship Type="http://schemas.openxmlformats.org/officeDocument/2006/relationships/image" Target="/ppt/media/image5.png" Id="R39944158669c498c" /><Relationship Type="http://schemas.openxmlformats.org/officeDocument/2006/relationships/notesSlide" Target="/ppt/notesSlides/notesSlide2.xml" Id="R90a612e365b6400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Minutes</c:v>
          </c:tx>
          <c:spPr>
            <a:solidFill xmlns:a="http://schemas.openxmlformats.org/drawingml/2006/main">
              <a:srgbClr val="94B9D3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9C4D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EA5A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D88412"/>
              </a:solidFill>
            </c:spPr>
          </c:dPt>
          <c:cat>
            <c:strLit>
              <c:ptCount val="3"/>
              <c:pt idx="0">
                <c:v>Historical</c:v>
              </c:pt>
              <c:pt idx="1">
                <c:v>253 frames</c:v>
              </c:pt>
              <c:pt idx="2">
                <c:v>Reduced frames</c:v>
              </c:pt>
            </c:strLit>
          </c:cat>
          <c:val>
            <c:numLit>
              <c:formatCode>0.00</c:formatCode>
              <c:ptCount val="3"/>
              <c:pt idx="0">
                <c:v>80.75</c:v>
              </c:pt>
              <c:pt idx="1">
                <c:v>28.81</c:v>
              </c:pt>
              <c:pt idx="2">
                <c:v>15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26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9FC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9FC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FFB051-037C-4A06-A200-965C89D4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923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Feasibility proof from completed drone-video runs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ED63F-BE19-4173-8BC5-E721228F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SIH26158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3A6B9-54C8-4A04-88C5-276C33CB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42950"/>
            <a:ext cx="1146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8C23EF-A7F3-4342-B57C-07DD0ECE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914400"/>
            <a:ext cx="19050" cy="527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C04D8-7667-4B47-8B3E-C23E1FA2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95675"/>
            <a:ext cx="1146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3AAC0F-D886-4F87-B470-80CC9AF9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525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5893D-8780-4A15-AFAE-1996AF5A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INPUT CAPTURE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e6fa5535e0452a"/>
          <a:srcRect xmlns:a="http://schemas.openxmlformats.org/drawingml/2006/main" l="0" t="19524" r="0" b="195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295400"/>
            <a:ext cx="5381625" cy="1752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441C2-A582-4DC9-9824-620BE5E6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0"/>
            <a:ext cx="5381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ED5008-1DD8-440B-BD01-7A364881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1242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4.19-minute flight     253 keyframes     2,525 telemetry samples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767CCD-ADC2-42CB-8C58-34A12704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9525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A794E5-458E-4B58-95CC-F7BDC953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93345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OUTPUT PRODUCTS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eb37cbc2c941f8"/>
          <a:stretch xmlns:a="http://schemas.openxmlformats.org/drawingml/2006/main"/>
        </p:blipFill>
        <p:spPr>
          <a:xfrm xmlns:a="http://schemas.openxmlformats.org/drawingml/2006/main">
            <a:off x="6661197" y="1285875"/>
            <a:ext cx="1822356" cy="20574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A59D47-116A-48E5-9DEA-C528ADCC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3525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604,982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9E621A-26F4-49A5-9C60-9D878A4A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4785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COLOURED POINTS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428F95-008B-4F9B-AC0E-50ADEC10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431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361,510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923012-C751-45CA-A9C9-AE234D52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431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MESH FACES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66120D-A4D4-4E84-A02B-FEA16E13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956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GLB, LAS and GeoTIFF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368218-1C07-4222-8BDA-0C77D459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52775"/>
            <a:ext cx="2381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EPSG:32610    DSM 0.5 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4A3137-B750-4E6C-BFA0-14396A1F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147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E48242-382B-40EE-8698-C8E17BFA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RUNTIME PROOF</a:t>
            </a:r>
          </a:p>
        </p:txBody>
      </p:sp>
      <p:graphicFrame>
        <p:nvGraphicFramePr>
          <p:cNvPr id="63" name="Chart"/>
          <p:cNvGraphicFramePr/>
          <p:nvPr/>
        </p:nvGraphicFramePr>
        <p:xfrm>
          <a:off xmlns:a="http://schemas.openxmlformats.org/drawingml/2006/main" x="361950" y="4057650"/>
          <a:ext xmlns:a="http://schemas.openxmlformats.org/drawingml/2006/main" cx="4076700" cy="2019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2ea8bd3e6b2443d"/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0BD664-2710-4F3C-8FF8-B2206D39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0" y="457200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Processing mode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DCD326-DF6A-4D66-9CAB-5A0473F3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953125"/>
            <a:ext cx="1809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Runtime (minutes)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409C51-D6EA-45EF-9BE8-93FF5DDA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7195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15 min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4D7514-7D4D-4178-9645-3A9E5D93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672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reduced frames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17DC1B-4CD6-4011-8F0D-471B2228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768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target achieved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D58B54-6924-4CF9-B337-C91C05DB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314950"/>
            <a:ext cx="125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28.81 min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D2EA9F-64EB-4D40-97D5-FE6D637B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629275"/>
            <a:ext cx="1123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all 253 frames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40C0F9-A51E-4438-8669-BF598827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147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1597BB-F285-460E-8D7D-DB1409F0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6957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QUALITY EVIDENCE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8feb8d71c942a3"/>
          <a:stretch xmlns:a="http://schemas.openxmlformats.org/drawingml/2006/main"/>
        </p:blipFill>
        <p:spPr>
          <a:xfrm xmlns:a="http://schemas.openxmlformats.org/drawingml/2006/main">
            <a:off x="6493454" y="4067175"/>
            <a:ext cx="3205591" cy="19621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41E443-68C9-41CC-84AA-3C4D7261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13385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C71707-CE98-4C13-BB19-D145FC38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42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capture screen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F40909-0BB3-4C7D-9AD3-F925A1E6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81012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0.458 px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FF3D5B-EB8F-42D9-BEA8-8C334854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1054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reprojection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B20DB0-1B12-4A4D-8C10-F4EE70AB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48640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46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4646"/>
                </a:solidFill>
                <a:latin typeface="Arial"/>
                <a:ea typeface="Arial"/>
                <a:cs typeface="Arial"/>
              </a:rPr>
              <a:t>81.82%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AF6886-A8BC-4E96-96E1-1167434A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7816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registered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E447B4-EABA-4DE0-9DD1-5B76661A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286500"/>
            <a:ext cx="1146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C7AD9D-B265-44F1-9FCD-21B26E2C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912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84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88412"/>
                </a:solidFill>
                <a:latin typeface="Arial"/>
                <a:ea typeface="Arial"/>
                <a:cs typeface="Arial"/>
              </a:rPr>
              <a:t>Accuracy proof pending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0A05B2-74F2-4FB7-82BE-6B63AC10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391275"/>
            <a:ext cx="899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Independent checkpoint RMSE has not been evaluated. GPS camera RMSE cannot prove the one-metre surface target.</a:t>
            </a:r>
          </a:p>
        </p:txBody>
      </p:sp>
    </p:spTree>
    <p:extLst>
      <p:ext uri="{BB962C8B-B14F-4D97-AF65-F5344CB8AC3E}">
        <p14:creationId xmlns:p14="http://schemas.microsoft.com/office/powerpoint/2010/main" val="6697087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8BAA72-9E66-4C14-8BD7-7D71F1DC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Benefits and field 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CAA80-2901-4B5A-B24B-F45CD742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SIH26158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F8544-93F4-4AF3-AC8A-8CE32223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42950"/>
            <a:ext cx="1146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851A-4352-4F77-8822-CC7BEC00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9377E-B33E-4344-9803-FE78F461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2975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CAPTURE ONCE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78EA9-4DF8-4C97-B4DF-B54CCC64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9620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BBCAD4-7492-4846-B92E-C73DE049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942975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CHOOSE THE RUNTIME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C8B211-8EEE-40C9-8C09-9708F01F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9620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715993-1E85-4722-8811-1E90F654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942975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USE THE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239C07-9D3C-44F6-9F57-1523CDB4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14400"/>
            <a:ext cx="190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7A3142-1276-4E6F-8B4D-C88B30A2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914400"/>
            <a:ext cx="190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a75a7e6be4da9"/>
          <a:stretch xmlns:a="http://schemas.openxmlformats.org/drawingml/2006/main"/>
        </p:blipFill>
        <p:spPr>
          <a:xfrm xmlns:a="http://schemas.openxmlformats.org/drawingml/2006/main">
            <a:off x="361950" y="1332838"/>
            <a:ext cx="5524500" cy="1963473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4D1461-DC29-4F0F-8861-BBAF6DFE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62350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Standard drone video and telemetry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E15AE3-D408-467A-9BA0-0B0748D0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862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Single flight over complex terrain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020A07-10FD-4CC6-A145-5769DC7F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6685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15 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03C79E-7B6B-4F4E-823D-9DC8AE60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2209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reduced frames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1BF1D2-A20E-4057-8397-FAF59BA4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845C"/>
                </a:solidFill>
                <a:latin typeface="Arial"/>
                <a:ea typeface="Arial"/>
                <a:cs typeface="Arial"/>
              </a:rPr>
              <a:t>rapid assessment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FC5E5F-B0A2-4655-B7CB-3CC7CDE1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14625"/>
            <a:ext cx="160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D3E528-926A-48B8-ADD4-B162476B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220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28.81 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2FDAB0-4258-4AEF-B900-0F727BB2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575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all 253 frames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0B84F8-9F1A-47A7-90A8-35DADF2F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338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6AA9"/>
                </a:solidFill>
                <a:latin typeface="Arial"/>
                <a:ea typeface="Arial"/>
                <a:cs typeface="Arial"/>
              </a:rPr>
              <a:t>full-detail run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944158669c498c"/>
          <a:stretch xmlns:a="http://schemas.openxmlformats.org/drawingml/2006/main"/>
        </p:blipFill>
        <p:spPr>
          <a:xfrm xmlns:a="http://schemas.openxmlformats.org/drawingml/2006/main">
            <a:off x="8763000" y="1350576"/>
            <a:ext cx="2571750" cy="2918598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F5E82E-904B-418A-B842-9A943FB7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291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GLB, LAS and GeoTIFF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37365F-8001-42B0-BFE8-81800CC6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05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GIS and 3D workflows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24E3C6-38F4-4EB0-8475-EA657519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219700"/>
            <a:ext cx="114681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F0B5CA-73BF-4CD8-8954-7C86FFB4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530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E1D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FE1D7"/>
                </a:solidFill>
                <a:latin typeface="Arial"/>
                <a:ea typeface="Arial"/>
                <a:cs typeface="Arial"/>
              </a:rPr>
              <a:t>FIELD IMPACT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2C68B5-8D2D-40CF-9660-93826DA0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Less field exposure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2DBF5B-4CB8-40D9-851A-973A0933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524500"/>
            <a:ext cx="19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9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7D453B-431F-409D-88AF-96CBCB1B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7340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Earlier site decisions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ACFB36-5F71-4B02-8B51-A283A9A1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524500"/>
            <a:ext cx="19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9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FBED76-851F-43A0-8B2C-C0C837CC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7340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Reusable GIS data</a:t>
            </a:r>
          </a:p>
        </p:txBody>
      </p:sp>
    </p:spTree>
    <p:extLst>
      <p:ext uri="{BB962C8B-B14F-4D97-AF65-F5344CB8AC3E}">
        <p14:creationId xmlns:p14="http://schemas.microsoft.com/office/powerpoint/2010/main" val="5442656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2026-09-15T06:00:07.5920000Z</dcterms:created>
  <dcterms:modified xsi:type="dcterms:W3CDTF">2026-09-15T06:00:07.5930000Z</dcterms:modified>
</coreProperties>
</file>
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f4448ee3741c0" /><Relationship Type="http://schemas.openxmlformats.org/officeDocument/2006/relationships/extended-properties" Target="/docProps/app.xml" Id="Re50a44a765734e72" /><Relationship Type="http://schemas.openxmlformats.org/officeDocument/2006/relationships/officeDocument" Target="/ppt/presentation.xml" Id="R97464f3d85e141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e6c35643d245f4"/>
  </p:sldMasterIdLst>
  <p:notesMasterIdLst>
    <p:notesMasterId xmlns:r="http://schemas.openxmlformats.org/officeDocument/2006/relationships" r:id="R885303c9e909466a"/>
  </p:notesMasterIdLst>
  <p:sldIdLst>
    <p:sldId xmlns:r="http://schemas.openxmlformats.org/officeDocument/2006/relationships" id="256" r:id="Rf927d63a3bf14154"/>
    <p:sldId xmlns:r="http://schemas.openxmlformats.org/officeDocument/2006/relationships" id="257" r:id="R4f3d2859f498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f5daf49d7a465a" /><Relationship Type="http://schemas.openxmlformats.org/officeDocument/2006/relationships/slideMaster" Target="/ppt/slideMasters/slideMaster1.xml" Id="R09e6c35643d245f4" /><Relationship Type="http://schemas.openxmlformats.org/officeDocument/2006/relationships/notesMaster" Target="/ppt/notesMasters/notesMaster1.xml" Id="R885303c9e909466a" /><Relationship Type="http://schemas.openxmlformats.org/officeDocument/2006/relationships/presProps" Target="/ppt/presProps.xml" Id="Raf10d00e96714594" /><Relationship Type="http://schemas.openxmlformats.org/officeDocument/2006/relationships/tableStyles" Target="/ppt/tableStyles.xml" Id="Reee10d8732894957" /><Relationship Type="http://schemas.openxmlformats.org/officeDocument/2006/relationships/slide" Target="/ppt/slides/slide1.xml" Id="Rf927d63a3bf14154" /><Relationship Type="http://schemas.openxmlformats.org/officeDocument/2006/relationships/slide" Target="/ppt/slides/slide2.xml" Id="R4f3d2859f498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df0afff66e4c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a8a9a5b4a643ff" /><Relationship Type="http://schemas.openxmlformats.org/officeDocument/2006/relationships/notesMaster" Target="/ppt/notesMasters/notesMaster1.xml" Id="R24510805256545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9575c12de4ae7" /><Relationship Type="http://schemas.openxmlformats.org/officeDocument/2006/relationships/notesMaster" Target="/ppt/notesMasters/notesMaster1.xml" Id="R83b4502e04ad4e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Target-user and impact statements describe intended operational use; they are not measured deployment outcomes.</a:t>
            </a:r>
          </a:p>
          <a:p xmlns:a="http://schemas.openxmlformats.org/drawingml/2006/main">
            <a:r>
              <a:t>The archived run_report.json records 28.81 minutes for all 253 frames. The project team reports a 15-minute run after reducing the processed frame count.</a:t>
            </a:r>
          </a:p>
          <a:p xmlns:a="http://schemas.openxmlformats.org/drawingml/2006/main">
            <a:r>
              <a:t>Usage proxy: cumulative villages where drone flying was completed under India's SVAMITVA programme.</a:t>
            </a:r>
          </a:p>
          <a:p xmlns:a="http://schemas.openxmlformats.org/drawingml/2006/main">
            <a:r>
              <a:t>2021, 90,504 villages: https://www.pib.gov.in/PressReleasePage.aspx?PRID=1786259</a:t>
            </a:r>
          </a:p>
          <a:p xmlns:a="http://schemas.openxmlformats.org/drawingml/2006/main">
            <a:r>
              <a:t>2022, 203,118 villages: https://www.pib.gov.in/PressReleasePage.aspx?PRID=1885885</a:t>
            </a:r>
          </a:p>
          <a:p xmlns:a="http://schemas.openxmlformats.org/drawingml/2006/main">
            <a:r>
              <a:t>2023, 289,000 villages: https://www.pib.gov.in/Pressreleaseshare.aspx?PRID=1991702</a:t>
            </a:r>
          </a:p>
          <a:p xmlns:a="http://schemas.openxmlformats.org/drawingml/2006/main">
            <a:r>
              <a:t>2024, 317,000 villages: https://www.pib.gov.in/Pressreleaseshare.aspx?PRID=2090152</a:t>
            </a:r>
          </a:p>
          <a:p xmlns:a="http://schemas.openxmlformats.org/drawingml/2006/main">
            <a:r>
              <a:t>2025, 328,000 villages: https://www.pib.gov.in/PressReleasePage.aspx?PRID=2209532</a:t>
            </a:r>
          </a:p>
          <a:p xmlns:a="http://schemas.openxmlformats.org/drawingml/2006/main">
            <a:r>
              <a:t>SVAMITVA programme cost of ₹566.23 crore through FY 2025-26: https://static.pib.gov.in/WriteReadData/specificdocs/documents/2025/apr/doc2025423544601.pdf</a:t>
            </a:r>
          </a:p>
          <a:p xmlns:a="http://schemas.openxmlformats.org/drawingml/2006/main">
            <a:r>
              <a:t>Compute-cost index calculation: historical 80.75 minutes = 100. Full run = 28.81 / 80.75 × 100 = 35.7. Rapid run = 15 / 80.75 × 100 = 18.6.</a:t>
            </a:r>
          </a:p>
          <a:p xmlns:a="http://schemas.openxmlformats.org/drawingml/2006/main">
            <a:r>
              <a:t>The cost index assumes the same usage-based GPU hourly rate. It does not estimate capture, labour, storage, software licensing or hardware depreciation.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d30115829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331ec58a1341b8" /><Relationship Type="http://schemas.openxmlformats.org/officeDocument/2006/relationships/slideLayout" Target="/ppt/slideLayouts/slideLayout1.xml" Id="R90d328812169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d328812169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dee78c42e49a9" /><Relationship Type="http://schemas.openxmlformats.org/officeDocument/2006/relationships/image" Target="/ppt/media/image.png" Id="R39de8ec19eec44d8" /><Relationship Type="http://schemas.openxmlformats.org/officeDocument/2006/relationships/image" Target="/ppt/media/image2.png" Id="R45c21f0620274365" /><Relationship Type="http://schemas.openxmlformats.org/officeDocument/2006/relationships/chart" Target="/ppt/slides/charts/chart1.xml" Id="Rabd1e9422f704986" /><Relationship Type="http://schemas.openxmlformats.org/officeDocument/2006/relationships/image" Target="/ppt/media/image3.png" Id="R1120bbae46ef467d" /><Relationship Type="http://schemas.openxmlformats.org/officeDocument/2006/relationships/notesSlide" Target="/ppt/notesSlides/notesSlide1.xml" Id="R065c11dbac82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99541daaa4edb" /><Relationship Type="http://schemas.openxmlformats.org/officeDocument/2006/relationships/chart" Target="/ppt/slides/charts/chart2.xml" Id="Rf0cab0853ad5443c" /><Relationship Type="http://schemas.openxmlformats.org/officeDocument/2006/relationships/chart" Target="/ppt/slides/charts/chart3.xml" Id="R6cf5276ede124258" /><Relationship Type="http://schemas.openxmlformats.org/officeDocument/2006/relationships/notesSlide" Target="/ppt/notesSlides/notesSlide2.xml" Id="R255ee52d41a54ff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Villages surveyed, thousands</c:v>
          </c:tx>
          <c:spPr>
            <a:solidFill xmlns:a="http://schemas.openxmlformats.org/drawingml/2006/main">
              <a:srgbClr val="0EA5A0"/>
            </a:solidFill>
          </c:spPr>
          <c:cat>
            <c:numLit>
              <c:formatCode>General</c:formatCode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numLit>
          </c:cat>
          <c:val>
            <c:numLit>
              <c:formatCode>0.0</c:formatCode>
              <c:ptCount val="5"/>
              <c:pt idx="0">
                <c:v>90.504</c:v>
              </c:pt>
              <c:pt idx="1">
                <c:v>203.118</c:v>
              </c:pt>
              <c:pt idx="2">
                <c:v>289</c:v>
              </c:pt>
              <c:pt idx="3">
                <c:v>317</c:v>
              </c:pt>
              <c:pt idx="4">
                <c:v>328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Compute-cost index</c:v>
          </c:tx>
          <c:spPr>
            <a:solidFill xmlns:a="http://schemas.openxmlformats.org/drawingml/2006/main">
              <a:srgbClr val="A9C4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Our full</c:v>
              </c:pt>
              <c:pt idx="2">
                <c:v>Our rapid</c:v>
              </c:pt>
            </c:strLit>
          </c:cat>
          <c:val>
            <c:numLit>
              <c:formatCode>0.0</c:formatCode>
              <c:ptCount val="3"/>
              <c:pt idx="0">
                <c:v>100</c:v>
              </c:pt>
              <c:pt idx="1">
                <c:v>35.7</c:v>
              </c:pt>
              <c:pt idx="2">
                <c:v>18.6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88A953-AEC5-42EF-AA97-12DF7371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3330A-BBBC-4222-8B0D-E77794C1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9661D-3D30-495D-873D-3D371E0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3AF19-0979-41A9-B9C4-53EA219E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958E9-2C68-4C2D-9FA4-A0E0D0D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88949-4D5E-43CC-A668-5E6E7D5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B85B5-728B-49EC-BD7A-771937A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e8ec19eec44d8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42CC6-194B-430D-A70A-0DC3B38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4A7ED-22F1-4E4B-A207-BFBA4958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C0C65-24AB-420C-98E2-A96FFCE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90B78-3C6D-46CD-B0DD-73B38A99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21f0620274365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C1DCC-F37E-4087-9262-224861B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83C9C-3B62-48C1-BB0F-3E380045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12384-8E64-4A2B-8307-7F92557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154A1-D7E7-405F-8891-D38A6464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1022A-ED6E-4F57-B903-53E49DCE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FEB1B-D091-48B1-91EB-AC800565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30080-FB9A-43D1-BA77-34DE3CE4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8326F-4E9B-44F7-8B93-CA141553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d1e9422f704986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B307A-965E-4964-8BFE-35BFAD8E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DA810-C237-4DC1-820B-92849875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73AC4-94AC-47F2-A60D-F9C30383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3C437-389F-4A55-BB6C-7455B8B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C6556-2231-4E4F-B8FD-FC20E31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03307-2429-475A-8096-3DBA7A9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87ECC-3B0A-4AC5-B139-AB54F63D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1EB5A-7395-4BC9-9020-C70D6F0A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3EFC9-9706-40B1-B645-98CCB9CB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0bbae46ef467d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73E39-1033-4435-8BD8-076CE1B6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3FDA1-6BBD-4836-A04A-DAECACC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957219-BB69-4FF6-BF5A-B5BC599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7D710-A9DD-4A7D-8920-D4332FB0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E2CF39-8102-405C-A247-AC2C4E5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21057E-D78C-444E-B561-E9ED8F8F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5CF976-B86F-4CAF-A873-BC8002F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CB56E6-4332-4539-BEF3-1E8F5256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F0A892-D87C-4D21-98CC-85F50A8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826891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A79519-6B4B-4E1E-B4FF-3EFC3BF4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Impact and economic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1C86D-D2A7-4241-8DE7-A63704E6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484F8-073E-435B-8BEC-4E83BB83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5EE69-6F8A-4CE4-9AB5-575A45A2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14400"/>
            <a:ext cx="1905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1653F-740D-4F88-8229-44262F05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DIRECT IMPACT ON TARGET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DAA84-A02A-46FD-8E77-9B7D3236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95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Survey and GIS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02351-77B1-4785-98C0-A0695E76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3D model + DSM from one drone flight.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29565-6F88-4376-A96D-2CF86D5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Infrastructure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C3B09-50EC-4B96-B866-A40E741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145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Inspect difficult terrain before field deployment.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244E4-B84A-43C3-9743-5E72672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Emergency response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03C70-EA7C-49D4-B6E3-CFF8DEB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15-minute rapid site assessment.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B05BD-D2DF-4E4B-BB36-99E4084F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ECONOMIC &amp; OPERATIONAL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48DD4-51A6-41C2-86B1-31ECC89D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Lower survey overhead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F5062-80A3-4F79-A88C-3FDE5ECD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Reuse existing drone video and telemetry.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FD4DB-8745-4CF5-ABC5-7F248F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385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Faster turnaround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89877-406B-4FF6-8155-C2BEBE37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385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 min rapid / 28.81 min full-detail run.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5411A-1BF9-4A70-ADE9-1E9BBD73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Portable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67821-262B-495D-B4CF-4709090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GLB, LAS and GeoTIFF avoid tool lock-in.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48FCE-4FB9-44ED-8419-B97008A1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STRATEGIC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E027B-230F-4451-9903-AF0782F4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43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Local geospatial capability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3B215-283A-423C-B8CA-19082C6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434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Open pipeline, reports and standard outputs.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E88CB-0D73-4DEF-9FB7-1CDAC209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625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Shared operational picture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AF6D6-C5CE-4E33-B87B-BCA50142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625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GIS, 3D and browser-ready mission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DCF4C-72B0-4F6C-BC7A-5F71D61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Scales with each 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6B373-1D44-40C3-8EB0-D728C8DC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Choose rapid mode or full 253-frame detail.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A7D53-3E5C-460D-BA85-3C1900C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71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5-YEAR USAGE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339A8-D48C-49A0-9673-4FAF944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00150"/>
            <a:ext cx="4333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SVAMITVA villages surveyed (thousands)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5143500" y="1438275"/>
          <a:ext xmlns:a="http://schemas.openxmlformats.org/drawingml/2006/main" cx="4333875" cy="2009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cab0853ad5443c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1E481-D0C8-4330-9FDC-6706083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57325"/>
            <a:ext cx="1857375" cy="8667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033A7-E51F-4D61-BD1E-76CBA908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21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3.6×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C0BDF5-27D8-4F82-8A00-D4B0557F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usage since 2021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FFE08B-3FC6-4069-82EA-55267BEE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0507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4736BE-C8F3-418F-9816-FE838D17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384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₹566.23 cr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A6A7C-9405-401C-AD4B-CDCFCB43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programme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2613BC-CADA-4A69-AF7B-1B6094F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OUR PROCESSING-COST 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2AFFED-37AC-4526-8800-1257A6C5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4333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Variable GPU cost index · historical run = 100</a:t>
            </a:r>
          </a:p>
        </p:txBody>
      </p:sp>
      <p:graphicFrame>
        <p:nvGraphicFramePr>
          <p:cNvPr id="79" name="Chart"/>
          <p:cNvGraphicFramePr/>
          <p:nvPr/>
        </p:nvGraphicFramePr>
        <p:xfrm>
          <a:off xmlns:a="http://schemas.openxmlformats.org/drawingml/2006/main" x="5143500" y="4143375"/>
          <a:ext xmlns:a="http://schemas.openxmlformats.org/drawingml/2006/main" cx="4333875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f5276ede124258"/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B5FE5-99FC-4E99-A622-FFCA11D0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1857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AC5C9C-71F7-410F-851F-096B893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291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FE1D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FE1D7"/>
                </a:solidFill>
                <a:latin typeface="Arial"/>
                <a:ea typeface="Arial"/>
                <a:cs typeface="Arial"/>
              </a:rPr>
              <a:t>81%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C196FE-8EB9-4425-9E59-19A2156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149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lower GPU time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D54797-F17C-4175-9069-3AC85ACC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5780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15 min rapid mode</a:t>
            </a:r>
          </a:p>
          <a:p xmlns:a="http://schemas.openxmlformats.org/drawingml/2006/main">
            <a:pPr algn="ctr">
              <a:defRPr sz="975" b="0">
                <a:solidFill>
                  <a:srgbClr val="D9E6F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6F0"/>
                </a:solidFill>
                <a:latin typeface="Arial"/>
                <a:ea typeface="Arial"/>
                <a:cs typeface="Arial"/>
              </a:rPr>
              <a:t>vs 80.75 min historical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4B7E09-E8AF-462B-8C55-ADC3E72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131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Usage proxy: Government of India SVAMITVA data. Cost index assumes the same usage-based GPU rate; capture, labour and licensing excluded.</a:t>
            </a:r>
          </a:p>
        </p:txBody>
      </p:sp>
    </p:spTree>
    <p:extLst>
      <p:ext uri="{BB962C8B-B14F-4D97-AF65-F5344CB8AC3E}">
        <p14:creationId xmlns:p14="http://schemas.microsoft.com/office/powerpoint/2010/main" val="1117005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2026-09-15T06:32:56.8480000Z</dcterms:created>
  <dcterms:modified xsi:type="dcterms:W3CDTF">2026-09-15T06:32:56.8480000Z</dcterms:modified>
</coreProperties>
</file>
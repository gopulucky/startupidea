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f0faf77c0ce44ed" /><Relationship Type="http://schemas.openxmlformats.org/officeDocument/2006/relationships/extended-properties" Target="/docProps/app.xml" Id="R566b5e06d2e24bee" /><Relationship Type="http://schemas.openxmlformats.org/officeDocument/2006/relationships/officeDocument" Target="/ppt/presentation.xml" Id="Rd0c0f069b0a54f8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069a7e35d148de"/>
  </p:sldMasterIdLst>
  <p:notesMasterIdLst>
    <p:notesMasterId xmlns:r="http://schemas.openxmlformats.org/officeDocument/2006/relationships" r:id="Ra50be7a16ac04987"/>
  </p:notesMasterIdLst>
  <p:sldIdLst>
    <p:sldId xmlns:r="http://schemas.openxmlformats.org/officeDocument/2006/relationships" id="256" r:id="Rc650522063354b24"/>
    <p:sldId xmlns:r="http://schemas.openxmlformats.org/officeDocument/2006/relationships" id="257" r:id="Rf84b23170f9449f4"/>
    <p:sldId xmlns:r="http://schemas.openxmlformats.org/officeDocument/2006/relationships" id="258" r:id="R446271b1ae7443b2"/>
    <p:sldId xmlns:r="http://schemas.openxmlformats.org/officeDocument/2006/relationships" id="259" r:id="Rd78a1d05a1714531"/>
    <p:sldId xmlns:r="http://schemas.openxmlformats.org/officeDocument/2006/relationships" id="260" r:id="R69292801546d45e8"/>
    <p:sldId xmlns:r="http://schemas.openxmlformats.org/officeDocument/2006/relationships" id="261" r:id="Rbca853ecffdb4a2f"/>
    <p:sldId xmlns:r="http://schemas.openxmlformats.org/officeDocument/2006/relationships" id="262" r:id="R03dabb150c5f4ec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47809efb5cc249e6" /><Relationship Type="http://schemas.openxmlformats.org/officeDocument/2006/relationships/slideMaster" Target="/ppt/slideMasters/slideMaster1.xml" Id="Rb9069a7e35d148de" /><Relationship Type="http://schemas.openxmlformats.org/officeDocument/2006/relationships/notesMaster" Target="/ppt/notesMasters/notesMaster1.xml" Id="Ra50be7a16ac04987" /><Relationship Type="http://schemas.openxmlformats.org/officeDocument/2006/relationships/presProps" Target="/ppt/presProps.xml" Id="Rcb873e72edd04c78" /><Relationship Type="http://schemas.openxmlformats.org/officeDocument/2006/relationships/tableStyles" Target="/ppt/tableStyles.xml" Id="R0e8e338c1f7648f5" /><Relationship Type="http://schemas.openxmlformats.org/officeDocument/2006/relationships/slide" Target="/ppt/slides/slide1.xml" Id="Rc650522063354b24" /><Relationship Type="http://schemas.openxmlformats.org/officeDocument/2006/relationships/slide" Target="/ppt/slides/slide2.xml" Id="Rf84b23170f9449f4" /><Relationship Type="http://schemas.openxmlformats.org/officeDocument/2006/relationships/slide" Target="/ppt/slides/slide3.xml" Id="R446271b1ae7443b2" /><Relationship Type="http://schemas.openxmlformats.org/officeDocument/2006/relationships/slide" Target="/ppt/slides/slide4.xml" Id="Rd78a1d05a1714531" /><Relationship Type="http://schemas.openxmlformats.org/officeDocument/2006/relationships/slide" Target="/ppt/slides/slide5.xml" Id="R69292801546d45e8" /><Relationship Type="http://schemas.openxmlformats.org/officeDocument/2006/relationships/slide" Target="/ppt/slides/slide6.xml" Id="Rbca853ecffdb4a2f" /><Relationship Type="http://schemas.openxmlformats.org/officeDocument/2006/relationships/slide" Target="/ppt/slides/slide7.xml" Id="R03dabb150c5f4ec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175f07375bc48f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94eea63e86b40f6" /><Relationship Type="http://schemas.openxmlformats.org/officeDocument/2006/relationships/notesMaster" Target="/ppt/notesMasters/notesMaster1.xml" Id="Ra15faeabaab7452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105956b7ed694d9c" /><Relationship Type="http://schemas.openxmlformats.org/officeDocument/2006/relationships/notesMaster" Target="/ppt/notesMasters/notesMaster1.xml" Id="R002eef1192bb494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540380a040d45e6" /><Relationship Type="http://schemas.openxmlformats.org/officeDocument/2006/relationships/notesMaster" Target="/ppt/notesMasters/notesMaster1.xml" Id="R94c199c163754a9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4b07b254a9b458b" /><Relationship Type="http://schemas.openxmlformats.org/officeDocument/2006/relationships/notesMaster" Target="/ppt/notesMasters/notesMaster1.xml" Id="R25eb42ed19b04fc9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c6479ccd0c34e24" /><Relationship Type="http://schemas.openxmlformats.org/officeDocument/2006/relationships/notesMaster" Target="/ppt/notesMasters/notesMaster1.xml" Id="Rdfcbd193ca7e45d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2ecff435144d2a" /><Relationship Type="http://schemas.openxmlformats.org/officeDocument/2006/relationships/notesMaster" Target="/ppt/notesMasters/notesMaster1.xml" Id="Rac241bde5bf8443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fd9b47161544d8c" /><Relationship Type="http://schemas.openxmlformats.org/officeDocument/2006/relationships/notesMaster" Target="/ppt/notesMasters/notesMaster1.xml" Id="Rb17708287d4b45b4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evidence boundary: the repository demonstrates end-to-end technical feasibility.</a:t>
            </a:r>
          </a:p>
          <a:p xmlns:a="http://schemas.openxmlformats.org/drawingml/2006/main">
            <a:r>
              <a:t>Do not claim the 15-minute target or one-metre surface accuracy from this archived run.</a:t>
            </a:r>
          </a:p>
          <a:p xmlns:a="http://schemas.openxmlformats.org/drawingml/2006/main">
            <a:r>
              <a:t>Source image: SIH26158_HF_Drone_Full253_AB_Colab (1).ipynb, cell 5 output.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proves that the reconstruction used one continuous video with synchronized telemetry.</a:t>
            </a:r>
          </a:p>
          <a:p xmlns:a="http://schemas.openxmlformats.org/drawingml/2006/main">
            <a:r>
              <a:t>The telemetry plot and flight frames come from the controlled full-253-frame experiment notebook.</a:t>
            </a:r>
          </a:p>
          <a:p xmlns:a="http://schemas.openxmlformats.org/drawingml/2006/main">
            <a:r>
              <a:t>Sources: SIH26158/evidence_20260914_080536/input_summary.json; preflight.json; frames.selection.json.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DSM image as visible evidence that the pipeline exported a georeferenced raster.</a:t>
            </a:r>
          </a:p>
          <a:p xmlns:a="http://schemas.openxmlformats.org/drawingml/2006/main">
            <a:r>
              <a:t>The verification report validates the GLB header and JSON chunk, LAS point count and CRS, GeoTIFF dimensions and CRS, and mesh structure.</a:t>
            </a:r>
          </a:p>
          <a:p xmlns:a="http://schemas.openxmlformats.org/drawingml/2006/main">
            <a:r>
              <a:t>Source: SIH26158/evidence_20260914_080536/verification_report.json and run_report.json.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bars combine documented experiment outputs and the latest archived evidence run.</a:t>
            </a:r>
          </a:p>
          <a:p xmlns:a="http://schemas.openxmlformats.org/drawingml/2006/main">
            <a:r>
              <a:t>Do not imply that every historical bar is an identical configuration. Use the chart as optimization history.</a:t>
            </a:r>
          </a:p>
          <a:p xmlns:a="http://schemas.openxmlformats.org/drawingml/2006/main">
            <a:r>
              <a:t>The latest evidence package reports 1,728.47 seconds wall clock and 1,522.40 seconds across reconstruction stages.</a:t>
            </a:r>
          </a:p>
          <a:p xmlns:a="http://schemas.openxmlformats.org/drawingml/2006/main">
            <a:r>
              <a:t>Sources: SIH26158_HF_Drone_Full253_AB_Colab (1).ipynb cell 7; SIH26158_HF_Drone_Frontend_Sparse_AB_Colab.ipynb cell 17; SIH26158/evidence_20260914_080536/run_report.json.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capture-quality gate is a risk screen, not an accuracy certificate.</a:t>
            </a:r>
          </a:p>
          <a:p xmlns:a="http://schemas.openxmlformats.org/drawingml/2006/main">
            <a:r>
              <a:t>Geometry-aware selection improved the median baseline and parallax in the controlled comparison, but the archived run registered only 81.82% of selected images.</a:t>
            </a:r>
          </a:p>
          <a:p xmlns:a="http://schemas.openxmlformats.org/drawingml/2006/main">
            <a:r>
              <a:t>Dynamic masking code exists in the repository. The evidence run explicitly records ai_dynamic_masking as skipped.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is the most important credibility slide.</a:t>
            </a:r>
          </a:p>
          <a:p xmlns:a="http://schemas.openxmlformats.org/drawingml/2006/main">
            <a:r>
              <a:t>The report leaves one_metre_accuracy and checkpoint_rmse_3d_m null. State that directly.</a:t>
            </a:r>
          </a:p>
          <a:p xmlns:a="http://schemas.openxmlformats.org/drawingml/2006/main">
            <a:r>
              <a:t>The repository already implements the required validator. The missing work is independent field evidence, not software plumbing.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End with a precise evidence plan instead of a broad claim.</a:t>
            </a:r>
          </a:p>
          <a:p xmlns:a="http://schemas.openxmlformats.org/drawingml/2006/main">
            <a:r>
              <a:t>The supplied archive contains the GLB, LAS, GeoTIFF, point cloud, mesh, reports, and logs. It does not contain an independent checkpoint CSV.</a:t>
            </a:r>
          </a:p>
          <a:p xmlns:a="http://schemas.openxmlformats.org/drawingml/2006/main">
            <a:r>
              <a:t>Production_ready is false in verification_report.json.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16c74c63b1b4a5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eab868a303964747" /><Relationship Type="http://schemas.openxmlformats.org/officeDocument/2006/relationships/slideLayout" Target="/ppt/slideLayouts/slideLayout1.xml" Id="R7467cfa01fb64f2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467cfa01fb64f2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f286496bff460a" /><Relationship Type="http://schemas.openxmlformats.org/officeDocument/2006/relationships/image" Target="/ppt/media/image.png" Id="Rd533093df698496b" /><Relationship Type="http://schemas.openxmlformats.org/officeDocument/2006/relationships/notesSlide" Target="/ppt/notesSlides/notesSlide1.xml" Id="Rc7428bb0e81a48b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bff91a3212f4f62" /><Relationship Type="http://schemas.openxmlformats.org/officeDocument/2006/relationships/image" Target="/ppt/media/image2.png" Id="Ra574b7e54d1444e1" /><Relationship Type="http://schemas.openxmlformats.org/officeDocument/2006/relationships/notesSlide" Target="/ppt/notesSlides/notesSlide2.xml" Id="R3215efd6a877418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14c1fc42e4adb" /><Relationship Type="http://schemas.openxmlformats.org/officeDocument/2006/relationships/image" Target="/ppt/media/image3.png" Id="R8d79844fa7844b69" /><Relationship Type="http://schemas.openxmlformats.org/officeDocument/2006/relationships/notesSlide" Target="/ppt/notesSlides/notesSlide3.xml" Id="R430c5fd35032411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d3891d9aee44fd" /><Relationship Type="http://schemas.openxmlformats.org/officeDocument/2006/relationships/chart" Target="/ppt/slides/charts/chart1.xml" Id="Re19bb9147a2840f8" /><Relationship Type="http://schemas.openxmlformats.org/officeDocument/2006/relationships/notesSlide" Target="/ppt/notesSlides/notesSlide4.xml" Id="R165bd49109424da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73116c4b0642d5" /><Relationship Type="http://schemas.openxmlformats.org/officeDocument/2006/relationships/image" Target="/ppt/media/image4.png" Id="R9d1119cc57f54654" /><Relationship Type="http://schemas.openxmlformats.org/officeDocument/2006/relationships/notesSlide" Target="/ppt/notesSlides/notesSlide5.xml" Id="Re537b49f986d432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77e752e54a74a23" /><Relationship Type="http://schemas.openxmlformats.org/officeDocument/2006/relationships/notesSlide" Target="/ppt/notesSlides/notesSlide6.xml" Id="R05a5d4bdf4ed4b9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880441905a4d39" /><Relationship Type="http://schemas.openxmlformats.org/officeDocument/2006/relationships/notesSlide" Target="/ppt/notesSlides/notesSlide7.xml" Id="Rc18f9fd07aa24d6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bar"/>
        <c:grouping val="clustered"/>
        <c:varyColors val="0"/>
        <c:ser>
          <c:idx val="0"/>
          <c:order val="0"/>
          <c:tx>
            <c:v>Runtime (minutes)</c:v>
          </c:tx>
          <c:spPr>
            <a:solidFill xmlns:a="http://schemas.openxmlformats.org/drawingml/2006/main">
              <a:srgbClr val="1769AA"/>
            </a:solidFill>
          </c:spPr>
          <c:dPt>
            <c:idx val="0"/>
            <c:invertIfNegative val="0"/>
            <c:spPr>
              <a:solidFill xmlns:a="http://schemas.openxmlformats.org/drawingml/2006/main">
                <a:srgbClr val="D88516"/>
              </a:solidFill>
            </c:spPr>
          </c:dPt>
          <c:dPt>
            <c:idx val="1"/>
            <c:invertIfNegative val="0"/>
            <c:spPr>
              <a:solidFill xmlns:a="http://schemas.openxmlformats.org/drawingml/2006/main">
                <a:srgbClr val="1BA6A6"/>
              </a:solidFill>
            </c:spPr>
          </c:dPt>
          <c:dPt>
            <c:idx val="2"/>
            <c:invertIfNegative val="0"/>
            <c:spPr>
              <a:solidFill xmlns:a="http://schemas.openxmlformats.org/drawingml/2006/main">
                <a:srgbClr val="4A8FC5"/>
              </a:solidFill>
            </c:spPr>
          </c:dPt>
          <c:dPt>
            <c:idx val="3"/>
            <c:invertIfNegative val="0"/>
            <c:spPr>
              <a:solidFill xmlns:a="http://schemas.openxmlformats.org/drawingml/2006/main">
                <a:srgbClr val="6FA6CF"/>
              </a:solidFill>
            </c:spPr>
          </c:dPt>
          <c:dPt>
            <c:idx val="4"/>
            <c:invertIfNegative val="0"/>
            <c:spPr>
              <a:solidFill xmlns:a="http://schemas.openxmlformats.org/drawingml/2006/main">
                <a:srgbClr val="9BBFD9"/>
              </a:solidFill>
            </c:spPr>
          </c:dPt>
          <c:dPt>
            <c:idx val="5"/>
            <c:invertIfNegative val="0"/>
            <c:spPr>
              <a:solidFill xmlns:a="http://schemas.openxmlformats.org/drawingml/2006/main">
                <a:srgbClr val="B7CCDB"/>
              </a:solidFill>
            </c:spPr>
          </c:dPt>
          <c:cat>
            <c:strLit>
              <c:ptCount val="6"/>
              <c:pt idx="0">
                <c:v>15-minute target</c:v>
              </c:pt>
              <c:pt idx="1">
                <c:v>Latest archived run</c:v>
              </c:pt>
              <c:pt idx="2">
                <c:v>Frontend optimization</c:v>
              </c:pt>
              <c:pt idx="3">
                <c:v>Geometry fast</c:v>
              </c:pt>
              <c:pt idx="4">
                <c:v>Controlled baseline</c:v>
              </c:pt>
              <c:pt idx="5">
                <c:v>Historical run</c:v>
              </c:pt>
            </c:strLit>
          </c:cat>
          <c:val>
            <c:numLit>
              <c:formatCode>0.00</c:formatCode>
              <c:ptCount val="6"/>
              <c:pt idx="0">
                <c:v>15</c:v>
              </c:pt>
              <c:pt idx="1">
                <c:v>28.81</c:v>
              </c:pt>
              <c:pt idx="2">
                <c:v>34.62</c:v>
              </c:pt>
              <c:pt idx="3">
                <c:v>52.62</c:v>
              </c:pt>
              <c:pt idx="4">
                <c:v>78.07</c:v>
              </c:pt>
              <c:pt idx="5">
                <c:v>80.75</c:v>
              </c:pt>
            </c:numLit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125" b="1">
                  <a:solidFill>
                    <a:srgbClr val="132536"/>
                  </a:solidFill>
                  <a:latin typeface="Arial"/>
                  <a:ea typeface="Arial"/>
                  <a:cs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2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majorGridlines>
          <c:spPr>
            <a:ln xmlns:a="http://schemas.openxmlformats.org/drawingml/2006/main" w="9525">
              <a:solidFill>
                <a:srgbClr val="D7E0E7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rPr sz="1200">
                    <a:solidFill>
                      <a:srgbClr val="526578"/>
                    </a:solidFill>
                    <a:latin typeface="Arial"/>
                    <a:ea typeface="Arial"/>
                    <a:cs typeface="Arial"/>
                  </a:rPr>
                  <a:t>Minutes</a:t>
                </a:r>
              </a:p>
            </c:rich>
          </c:tx>
          <c:overlay val="0"/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 sz="1200">
                  <a:solidFill>
                    <a:srgbClr val="526578"/>
                  </a:solidFill>
                  <a:latin typeface="Arial"/>
                  <a:ea typeface="Arial"/>
                  <a:cs typeface="Arial"/>
                </a:defRPr>
              </a:pPr>
            </a:p>
          </c:txPr>
        </c:title>
        <c:numFmt formatCode="0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05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</a:p>
        </c:txPr>
        <c:crossAx val="48672768"/>
      </c:catAx>
      <c:valAx>
        <c:axId val="48672768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7E0E7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</a:p>
        </c:txPr>
        <c:crossAx val="48650112"/>
        <c:crossBetween val="between"/>
      </c:valAx>
      <c:spPr>
        <a:solidFill xmlns:a="http://schemas.openxmlformats.org/drawingml/2006/main">
          <a:srgbClr val="FFFFFF"/>
        </a:solidFill>
        <a:ln xmlns:a="http://schemas.openxmlformats.org/drawingml/2006/main" w="0">
          <a:noFill/>
          <a:prstDash val="solid"/>
        </a:ln>
      </c:spPr>
    </c:plotArea>
    <c:plotVisOnly val="1"/>
  </c:chart>
  <c:spPr>
    <a:solidFill xmlns:a="http://schemas.openxmlformats.org/drawingml/2006/main">
      <a:srgbClr val="FFFFFF"/>
    </a:solidFill>
    <a:ln xmlns:a="http://schemas.openxmlformats.org/drawingml/2006/main" w="0">
      <a:noFill/>
      <a:prstDash val="solid"/>
    </a:ln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33093df698496b"/>
          <a:srcRect xmlns:a="http://schemas.openxmlformats.org/drawingml/2006/main" l="26624" t="0" r="2662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191250" y="0"/>
            <a:ext cx="6000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356D209-22D1-40C1-8C50-0E34D1E8E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191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1A2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002B7F-C93F-4FA0-A3EF-40C007C5FC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742950"/>
            <a:ext cx="4476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SIH26158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C575FF8-5347-49D6-880B-19DB7A49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352550"/>
            <a:ext cx="495300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Feasibility</a:t>
            </a:r>
          </a:p>
          <a:p xmlns:a="http://schemas.openxmlformats.org/drawingml/2006/main">
            <a:pPr algn="l">
              <a:defRPr sz="465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65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B767386-81B8-4F5C-8277-6CE7AC1E0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409950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C9D6E2"/>
                </a:solidFill>
                <a:latin typeface="Arial"/>
                <a:ea typeface="Arial"/>
                <a:cs typeface="Arial"/>
              </a:defRPr>
            </a:pPr>
            <a:r>
              <a:rPr sz="1875" b="0" i="0">
                <a:solidFill>
                  <a:srgbClr val="C9D6E2"/>
                </a:solidFill>
                <a:latin typeface="Arial"/>
                <a:ea typeface="Arial"/>
                <a:cs typeface="Arial"/>
              </a:rPr>
              <a:t>Single-pass drone video to georeferenced 3D and GIS products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972D8E5-7280-4C3A-A3CB-F28F32855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14850"/>
            <a:ext cx="91440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924E128-103A-41CB-9C16-E48291A58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810125"/>
            <a:ext cx="4762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0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Verified run: 4.2-minute video, 253 selected frames, CUDA on Tesla T4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0099EB-D554-4FE4-ADAE-69A2568EF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6200775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 i="0">
                <a:solidFill>
                  <a:srgbClr val="8FA4B7"/>
                </a:solidFill>
                <a:latin typeface="Arial"/>
                <a:ea typeface="Arial"/>
                <a:cs typeface="Arial"/>
              </a:defRPr>
            </a:pPr>
            <a:r>
              <a:rPr sz="1050" b="0" i="0">
                <a:solidFill>
                  <a:srgbClr val="8FA4B7"/>
                </a:solidFill>
                <a:latin typeface="Arial"/>
                <a:ea typeface="Arial"/>
                <a:cs typeface="Arial"/>
              </a:rPr>
              <a:t>Evidence date 14 September 2026</a:t>
            </a:r>
          </a:p>
        </p:txBody>
      </p:sp>
    </p:spTree>
    <p:extLst>
      <p:ext uri="{BB962C8B-B14F-4D97-AF65-F5344CB8AC3E}">
        <p14:creationId xmlns:p14="http://schemas.microsoft.com/office/powerpoint/2010/main" val="1957520878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3FB5F8D-79FF-45C2-9AB5-D846179F1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6133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One continuous flight produced a reproducible metric input set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DF95CD-1DEF-4EA9-AFCB-DF12B49EC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074B1A9-7FF8-4541-91F7-4E9DD601C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74b7e54d1444e1"/>
          <a:stretch xmlns:a="http://schemas.openxmlformats.org/drawingml/2006/main"/>
        </p:blipFill>
        <p:spPr>
          <a:xfrm xmlns:a="http://schemas.openxmlformats.org/drawingml/2006/main">
            <a:off x="609600" y="1672645"/>
            <a:ext cx="6667500" cy="2369709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EE44A33-89E1-478F-B294-2C8634003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4478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4.19 min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4355DC-2075-4763-88A9-497F152774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0097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video duration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1A4045-BE25-47FB-BBA9-99FED30C1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257175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7,538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0D15A06-97F8-4C1F-8F3F-911A05250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133725"/>
            <a:ext cx="323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source frames at 1920 x 1080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0CCE05-4C7E-448C-8394-4DC54D51A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3695700"/>
            <a:ext cx="34290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15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2,525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12DE157-607C-4790-A8F4-DC29DBDF7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57675"/>
            <a:ext cx="342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telemetry samples covering the video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CE6C5C-6CD5-4EDB-AC5D-3E768B5D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64820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B7565FA-DD16-4224-AC5D-5411D7D3E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253 geometry-aware keyframes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6F9882-23AB-489E-B904-0DB522E88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149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Selected at about 1 frame per second with 5.73 m median GPS baseline and 97.5% median tracked features.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0FE0A72-085A-49D1-9CBC-8F0A1F88F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49339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722"/>
          </a:bodyPr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1865B"/>
                </a:solidFill>
                <a:latin typeface="Arial"/>
                <a:ea typeface="Arial"/>
                <a:cs typeface="Arial"/>
              </a:defRPr>
            </a:pPr>
            <a:r>
              <a:rPr sz="1800" b="1" i="0">
                <a:solidFill>
                  <a:srgbClr val="11865B"/>
                </a:solidFill>
                <a:latin typeface="Arial"/>
                <a:ea typeface="Arial"/>
                <a:cs typeface="Arial"/>
              </a:rPr>
              <a:t>Preflight ready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036E18-F88E-42DB-B2D0-9B8883D54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314950"/>
            <a:ext cx="4762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9464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COLMAP 4.2 with CUDA, NVIDIA T4 visible, telemetry valid, no timestamp reversals, gaps, or probable position jumps.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A91BBB5-96F6-4E4F-A68F-F0C65D8D1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0BA2D9D-3258-4642-B528-A80F1F5BD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Sources: input_summary.json, preflight.json, frames.selection.json</a:t>
            </a:r>
          </a:p>
        </p:txBody>
      </p:sp>
    </p:spTree>
    <p:extLst>
      <p:ext uri="{BB962C8B-B14F-4D97-AF65-F5344CB8AC3E}">
        <p14:creationId xmlns:p14="http://schemas.microsoft.com/office/powerpoint/2010/main" val="176625519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ACE648-22C9-488E-B0CE-35E86FE14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74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The completed run exported valid 3D and GIS products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467721-2F27-4B05-B739-91D1615B1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A961890-1F7D-4F21-B7FC-4DE351E95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79844fa7844b69"/>
          <a:stretch xmlns:a="http://schemas.openxmlformats.org/drawingml/2006/main"/>
        </p:blipFill>
        <p:spPr>
          <a:xfrm xmlns:a="http://schemas.openxmlformats.org/drawingml/2006/main">
            <a:off x="7035060" y="1257300"/>
            <a:ext cx="4370279" cy="4933950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EBF3CAA-655D-49D7-BB5C-9BEF06FC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28750"/>
            <a:ext cx="3238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058"/>
          </a:bodyPr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1769AA"/>
                </a:solidFill>
                <a:latin typeface="Arial"/>
                <a:ea typeface="Arial"/>
                <a:cs typeface="Arial"/>
              </a:defRPr>
            </a:pPr>
            <a:r>
              <a:rPr sz="3450" b="1" i="0">
                <a:solidFill>
                  <a:srgbClr val="1769AA"/>
                </a:solidFill>
                <a:latin typeface="Arial"/>
                <a:ea typeface="Arial"/>
                <a:cs typeface="Arial"/>
              </a:rPr>
              <a:t>604,982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534369-2A26-4500-97A6-4E911ED9A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71675"/>
            <a:ext cx="3143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185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filtered coloured points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AAD9820-8C6E-41E3-B369-7DA4B5F7F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543175"/>
            <a:ext cx="3429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78571"/>
          </a:bodyPr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210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181,314 vertices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7AC284-7914-4FF9-965A-19020C35D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43225"/>
            <a:ext cx="4572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361,510 faces across 3 retained components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D1046E-B889-4A4E-A441-50CE0AFE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514725"/>
            <a:ext cx="5381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461BCD-E04C-48E7-AB0C-3D68BD38A4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7528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406"/>
          </a:bodyPr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725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Verified deliverables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54A173-4EB2-4BD2-A7B1-C44350AB8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81475"/>
            <a:ext cx="54292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rPr>
              <a:t>model.glb     valid, textured, 1 mesh</a:t>
            </a:r>
          </a:p>
          <a:p xmlns:a="http://schemas.openxmlformats.org/drawingml/2006/main">
            <a:pPr algn="l">
              <a:def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rPr>
              <a:t>point_cloud.las     valid, EPSG:32610</a:t>
            </a:r>
          </a:p>
          <a:p xmlns:a="http://schemas.openxmlformats.org/drawingml/2006/main">
            <a:pPr algn="l">
              <a:def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rPr>
              <a:t>dsm.tif     valid, EPSG:32610, 0.5 m pixels</a:t>
            </a:r>
          </a:p>
          <a:p xmlns:a="http://schemas.openxmlformats.org/drawingml/2006/main">
            <a:pPr algn="l">
              <a:def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defRPr>
            </a:pPr>
            <a:r>
              <a:rPr sz="1350" b="0" i="0">
                <a:solidFill>
                  <a:srgbClr val="132536"/>
                </a:solidFill>
                <a:latin typeface="Courier New"/>
                <a:ea typeface="Courier New"/>
                <a:cs typeface="Courier New"/>
              </a:rPr>
              <a:t>model.obj and mesh.ply     present and valid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0121A8A-EA36-4124-866A-6A97C8DB6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05475"/>
            <a:ext cx="5572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5497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C54747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C54747"/>
                </a:solidFill>
                <a:latin typeface="Arial"/>
                <a:ea typeface="Arial"/>
                <a:cs typeface="Arial"/>
              </a:rPr>
              <a:t>The DSM contains 111,476 valid cells. Its 13.84% coverage misses the current 75% production gate, so present it as output proof rather than complete-site coverage.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76D198C-0306-4D2A-BF7C-5DE39185E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32D71B-950B-46D5-B89E-CC6C332ED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Sources: verification_report.json and run_report.json; DSM image from Full253 notebook output</a:t>
            </a:r>
          </a:p>
        </p:txBody>
      </p:sp>
    </p:spTree>
    <p:extLst>
      <p:ext uri="{BB962C8B-B14F-4D97-AF65-F5344CB8AC3E}">
        <p14:creationId xmlns:p14="http://schemas.microsoft.com/office/powerpoint/2010/main" val="168854705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81B70AD-11DC-4A30-85E4-8230C63343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482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Runtime fell 64%, while the 15-minute target remains open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27C889C-4C07-415F-A4B4-0AA349488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0EF473-BDE8-4507-B278-DC9DCD481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graphicFrame>
        <p:nvGraphicFramePr>
          <p:cNvPr id="15" name="Chart"/>
          <p:cNvGraphicFramePr/>
          <p:nvPr/>
        </p:nvGraphicFramePr>
        <p:xfrm>
          <a:off xmlns:a="http://schemas.openxmlformats.org/drawingml/2006/main" x="704850" y="1352550"/>
          <a:ext xmlns:a="http://schemas.openxmlformats.org/drawingml/2006/main" cx="7524750" cy="44577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e19bb9147a2840f8"/>
          </a:graphicData>
        </a:graphic>
      </p:graphicFrame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E8A92-9048-4167-B12F-022E1DAE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1609725"/>
            <a:ext cx="2571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3600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3600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2.80x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85384D-304B-40F8-866E-65178ADAB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238375"/>
            <a:ext cx="2686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speedup versus the 80.75-minute historical run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F1E817-1150-4713-89F6-A6F02BAE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238500"/>
            <a:ext cx="2571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28.81 min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F621F45-8041-4494-9045-B3C05427D3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790950"/>
            <a:ext cx="26670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latest archived wall-clock result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7749329-6C3C-4703-9D78-240FD9A06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686300"/>
            <a:ext cx="26860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C54747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C54747"/>
                </a:solidFill>
                <a:latin typeface="Arial"/>
                <a:ea typeface="Arial"/>
                <a:cs typeface="Arial"/>
              </a:rPr>
              <a:t>A further 47.9% reduction, or 1.92x speedup, is required to reach 15 minutes on this measured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CB46D5-5256-4575-A5C7-FC6C1F4A42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01E5EB-A5D3-4DAB-A87B-89F7734BB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Sources: Full253 and Frontend Sparse A/B notebook outputs; evidence run_report.json</a:t>
            </a:r>
          </a:p>
        </p:txBody>
      </p:sp>
    </p:spTree>
    <p:extLst>
      <p:ext uri="{BB962C8B-B14F-4D97-AF65-F5344CB8AC3E}">
        <p14:creationId xmlns:p14="http://schemas.microsoft.com/office/powerpoint/2010/main" val="27744364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A3A73A5-5B58-4297-B690-1256178D6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0013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Capture checks passed, while reconstruction quality remains mixed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FFDDB99-069D-4DA7-93B0-43183937D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3ECAD1-5E95-465D-BAE1-B59FC9C3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1119cc57f54654"/>
          <a:stretch xmlns:a="http://schemas.openxmlformats.org/drawingml/2006/main"/>
        </p:blipFill>
        <p:spPr>
          <a:xfrm xmlns:a="http://schemas.openxmlformats.org/drawingml/2006/main">
            <a:off x="514350" y="1502704"/>
            <a:ext cx="6667500" cy="4081193"/>
          </a:xfrm>
          <a:prstGeom xmlns:a="http://schemas.openxmlformats.org/drawingml/2006/main" prst="rect">
            <a:avLst/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EEEB8B-DD79-41C5-84A2-758941C54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42875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Capture screen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716B27-5631-490D-B10C-ED96434D4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142875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1865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865B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7BBE2F-D9B4-49D6-AA27-967AD641B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5260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865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865B"/>
                </a:solidFill>
                <a:latin typeface="Arial"/>
                <a:ea typeface="Arial"/>
                <a:cs typeface="Arial"/>
              </a:rPr>
              <a:t>Passed all configured capture gates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F7D252-39D2-476E-8DE8-B10577C5A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07645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0% blurred, 0% poor exposure, no telemetry gaps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119CAF-F781-4A51-9850-10D3DEB62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71462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Reprojection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5B9A99-9ED7-4CF6-BED4-60FC7FF52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71462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11865B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1865B"/>
                </a:solidFill>
                <a:latin typeface="Arial"/>
                <a:ea typeface="Arial"/>
                <a:cs typeface="Arial"/>
              </a:rPr>
              <a:t>0.458 px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AF2F500-43FB-4259-8E2F-F72496A50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03847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9F6F0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1865B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11865B"/>
                </a:solidFill>
                <a:latin typeface="Arial"/>
                <a:ea typeface="Arial"/>
                <a:cs typeface="Arial"/>
              </a:rPr>
              <a:t>PASS against the 2 px gate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1A1AAB-F284-48A3-9AEE-45ABC9E2CC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62325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Sparse model geometry is internally consistent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4CEBB5F-BDA0-422B-B6CD-2A27B5D89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0005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Registration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4C439AA-FF53-4279-BCC3-BE997758C5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4000500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C54747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C54747"/>
                </a:solidFill>
                <a:latin typeface="Arial"/>
                <a:ea typeface="Arial"/>
                <a:cs typeface="Arial"/>
              </a:rPr>
              <a:t>81.82%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6E224E1-1ACF-46D3-9DC1-421E99064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324350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ECEC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C54747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C54747"/>
                </a:solidFill>
                <a:latin typeface="Arial"/>
                <a:ea typeface="Arial"/>
                <a:cs typeface="Arial"/>
              </a:rPr>
              <a:t>FAIL against the 90% gate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49287E-9CD4-414F-BE23-5381418ACD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648200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207 of 253 selected images registered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C59B95D-962B-44E3-8CE7-866CB8E8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286375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AI masking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8C7F42-1D5D-4154-AE70-5298D80FA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5286375"/>
            <a:ext cx="20764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4444"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D8851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D88516"/>
                </a:solidFill>
                <a:latin typeface="Arial"/>
                <a:ea typeface="Arial"/>
                <a:cs typeface="Arial"/>
              </a:rPr>
              <a:t>SKIPPED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289F7-0678-42FB-A613-4055B8F2F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610225"/>
            <a:ext cx="3905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4DF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D88516"/>
                </a:solidFill>
                <a:latin typeface="Arial"/>
                <a:ea typeface="Arial"/>
                <a:cs typeface="Arial"/>
              </a:defRPr>
            </a:pPr>
            <a:r>
              <a:rPr sz="1125" b="1" i="0">
                <a:solidFill>
                  <a:srgbClr val="D88516"/>
                </a:solidFill>
                <a:latin typeface="Arial"/>
                <a:ea typeface="Arial"/>
                <a:cs typeface="Arial"/>
              </a:rPr>
              <a:t>Capability exists but this run did not test it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70BC21-76BE-48D5-A961-EBBC86737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5934075"/>
            <a:ext cx="3905250" cy="4476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12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A masked versus unmasked proof image still needs a rerun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F63553F-5C7E-4285-8607-BDC43F816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2A4D581-424B-40F2-AB31-C7F58D18D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Sources: run_report.json, verification_report.json, reusable_run_assessment.json</a:t>
            </a:r>
          </a:p>
        </p:txBody>
      </p:sp>
    </p:spTree>
    <p:extLst>
      <p:ext uri="{BB962C8B-B14F-4D97-AF65-F5344CB8AC3E}">
        <p14:creationId xmlns:p14="http://schemas.microsoft.com/office/powerpoint/2010/main" val="202488245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D113553-970A-4945-A004-422986C49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8374"/>
          </a:bodyPr>
          <a:lstStyle xmlns:a="http://schemas.openxmlformats.org/drawingml/2006/main"/>
          <a:p xmlns:a="http://schemas.openxmlformats.org/drawingml/2006/main">
            <a:pPr algn="l">
              <a:defRPr sz="3075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3075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One-metre surface accuracy remains unevaluated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9F23F1C-EF4A-479E-92D4-E3F6C627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57275"/>
            <a:ext cx="6858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BA6A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A5B9B0-B217-4ED5-84B6-4114BA054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4762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0196"/>
          </a:bodyPr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BAEBDD4-0175-4227-B019-89F567D57F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562100"/>
            <a:ext cx="43815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1667"/>
          </a:bodyPr>
          <a:lstStyle xmlns:a="http://schemas.openxmlformats.org/drawingml/2006/main"/>
          <a:p xmlns:a="http://schemas.openxmlformats.org/drawingml/2006/main">
            <a:pPr algn="l">
              <a:defRPr sz="4800" b="1" i="0">
                <a:solidFill>
                  <a:srgbClr val="D88516"/>
                </a:solidFill>
                <a:latin typeface="Arial"/>
                <a:ea typeface="Arial"/>
                <a:cs typeface="Arial"/>
              </a:defRPr>
            </a:pPr>
            <a:r>
              <a:rPr sz="4800" b="1" i="0">
                <a:solidFill>
                  <a:srgbClr val="D88516"/>
                </a:solidFill>
                <a:latin typeface="Arial"/>
                <a:ea typeface="Arial"/>
                <a:cs typeface="Arial"/>
              </a:rPr>
              <a:t>1.835 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527176-75BC-490E-9A5B-0F0A381E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4381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GPS camera-alignment RMSE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A2521A-3D12-430D-88A4-30843DC16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4667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425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Diagnostic only. It compares reconstructed camera positions with flight GPS. It does not measure surface accuracy.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282B40-2869-4A01-8969-18C94C2DE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000500"/>
            <a:ext cx="46196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5E6E8A-121B-4265-9E74-3A85EAD12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2424"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65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Checkpoint RMSE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5E68B4-4DFC-401E-91BA-BCC1EE8B7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14875"/>
            <a:ext cx="4000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C54747"/>
                </a:solidFill>
                <a:latin typeface="Arial"/>
                <a:ea typeface="Arial"/>
                <a:cs typeface="Arial"/>
              </a:defRPr>
            </a:pPr>
            <a:r>
              <a:rPr sz="2850" b="1" i="0">
                <a:solidFill>
                  <a:srgbClr val="C54747"/>
                </a:solidFill>
                <a:latin typeface="Arial"/>
                <a:ea typeface="Arial"/>
                <a:cs typeface="Arial"/>
              </a:rPr>
              <a:t>NOT EVALUATED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92F405-E80C-40E7-A149-2736C6795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4667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35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No independent checkpoint set or reference surface is included in the evidence bundle.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88C60-7E5C-496A-8AAA-F085496097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428750"/>
            <a:ext cx="9525" cy="461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BB59121-3494-4DD2-9CEF-4A9406DC8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1524000"/>
            <a:ext cx="4667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2025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Evidence required for the final claim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3492B26-8573-4D46-9853-E51178231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336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979CB30-56D8-45FE-A6CD-DD27B7647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133600"/>
            <a:ext cx="417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Survey holdout points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46DC3-5D0E-4473-B9A0-E41663C74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457450"/>
            <a:ext cx="4171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8559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Use at least three independent checkpoints for the project gate. Thirty points only satisfies the repository's checkpoint-count status.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1774704-7821-41E6-804C-8F9C23014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1051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1D3FC0B-2B80-4FE0-8646-2EF7CCE0A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105150"/>
            <a:ext cx="417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Measure them in the reconstruction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146D3D4-9853-4D0D-AA25-275CA0D06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429000"/>
            <a:ext cx="4171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Record reconstructed and surveyed XYZ in checkpoint_measurements.csv.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B93E3B-D4FE-4903-BD08-1347E52A3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07670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13A2069-00C4-403B-8086-77AD83A6B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076700"/>
            <a:ext cx="417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Run the existing validator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32FF36-BAE5-4B2A-98F0-0BAA8BCDA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400550"/>
            <a:ext cx="4171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384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578"/>
                </a:solidFill>
                <a:latin typeface="Courier New"/>
                <a:ea typeface="Courier New"/>
                <a:cs typeface="Courier New"/>
              </a:defRPr>
            </a:pPr>
            <a:r>
              <a:rPr sz="1200" b="0" i="0">
                <a:solidFill>
                  <a:srgbClr val="526578"/>
                </a:solidFill>
                <a:latin typeface="Courier New"/>
                <a:ea typeface="Courier New"/>
                <a:cs typeface="Courier New"/>
              </a:rPr>
              <a:t>python -m sih_drone_pipeline validate-checkpoints --output &lt;run&gt; --checkpoints &lt;csv&gt;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516DBC9-F9C6-4835-A745-C487A0CFD2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048250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350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26F7B88-BA72-45E0-97BB-8A927FA51E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048250"/>
            <a:ext cx="41719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9167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32536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132536"/>
                </a:solidFill>
                <a:latin typeface="Arial"/>
                <a:ea typeface="Arial"/>
                <a:cs typeface="Arial"/>
              </a:rPr>
              <a:t>Show the numerical result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F37FC-993E-4EA9-BC4C-BF842A7BC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5372100"/>
            <a:ext cx="4171950" cy="5429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12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Present checkpoint 3D RMSE below 1.0 m, with the CSV and report retained as evidence.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9C10211-7871-4B7B-A3F3-342957AAF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57950"/>
            <a:ext cx="109728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7E0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F6A7699-5DAC-4B30-A5D5-216470FC2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43675"/>
            <a:ext cx="109728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26578"/>
                </a:solidFill>
                <a:latin typeface="Arial"/>
                <a:ea typeface="Arial"/>
                <a:cs typeface="Arial"/>
              </a:defRPr>
            </a:pPr>
            <a:r>
              <a:rPr sz="900" b="0" i="0">
                <a:solidFill>
                  <a:srgbClr val="526578"/>
                </a:solidFill>
                <a:latin typeface="Arial"/>
                <a:ea typeface="Arial"/>
                <a:cs typeface="Arial"/>
              </a:rPr>
              <a:t>Sources: verification_report.json and README accuracy-evidence protocol</a:t>
            </a:r>
          </a:p>
        </p:txBody>
      </p:sp>
    </p:spTree>
    <p:extLst>
      <p:ext uri="{BB962C8B-B14F-4D97-AF65-F5344CB8AC3E}">
        <p14:creationId xmlns:p14="http://schemas.microsoft.com/office/powerpoint/2010/main" val="2064442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1A2B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208C81-CC4E-4369-B120-D9E124647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"/>
            <a:ext cx="8763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93798"/>
          </a:bodyPr>
          <a:lstStyle xmlns:a="http://schemas.openxmlformats.org/drawingml/2006/main"/>
          <a:p xmlns:a="http://schemas.openxmlformats.org/drawingml/2006/main">
            <a:pPr algn="l">
              <a:defRPr sz="322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22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Final judging evidence pack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596DCE-BF36-44A8-A9CE-D2A813ECC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066800"/>
            <a:ext cx="857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B6C6D4"/>
                </a:solidFill>
                <a:latin typeface="Arial"/>
                <a:ea typeface="Arial"/>
                <a:cs typeface="Arial"/>
              </a:defRPr>
            </a:pPr>
            <a:r>
              <a:rPr sz="1575" b="0" i="0">
                <a:solidFill>
                  <a:srgbClr val="B6C6D4"/>
                </a:solidFill>
                <a:latin typeface="Arial"/>
                <a:ea typeface="Arial"/>
                <a:cs typeface="Arial"/>
              </a:rPr>
              <a:t>Use these artifacts to convert technical feasibility into judge-ready proof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1279EB-8B4E-4BF3-B903-5DA28D6FC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6954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867199-A2CD-4945-BB78-DC2D30B426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6954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921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3D model and scale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1B9463-B0BD-4825-907C-25DECE368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954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4D6A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4D6A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2831A3-F84C-48AA-81C8-BC994B2F0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1676400"/>
            <a:ext cx="556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0E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E0E8"/>
                </a:solidFill>
                <a:latin typeface="Arial"/>
                <a:ea typeface="Arial"/>
                <a:cs typeface="Arial"/>
              </a:rPr>
              <a:t>The archive includes model.glb and viewer_metadata.json. Add your viewer capture and demonstrate Shift-click measurement live.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EDCB1D-612E-4722-82AA-ED8A05C38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050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1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C008C8-6D8A-4689-B4DA-50B7CAE179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5717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1250346-0F12-41C7-9EC7-69B87A465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5717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921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 &lt;1 m accuracy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18A71-8617-4CA8-B4C8-1EFE45EBA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5717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C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7C7C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EC3D184-D895-47E2-A1B7-421DB32539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552700"/>
            <a:ext cx="556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0E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E0E8"/>
                </a:solidFill>
                <a:latin typeface="Arial"/>
                <a:ea typeface="Arial"/>
                <a:cs typeface="Arial"/>
              </a:rPr>
              <a:t>Collect holdout checkpoints, run validate-checkpoints, and show the 3D RMSE from the generated report.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6C56B1-F1A2-4161-87AB-3BA3A0D4A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813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1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34F4837-3B29-4897-B13E-FE60FFB46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4480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85780A8-8324-49A4-B924-F28CD1DEB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921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Runtime improvement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007858A-22CF-449D-AE68-CDBC1116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34480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4D6A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4D6A4"/>
                </a:solidFill>
                <a:latin typeface="Arial"/>
                <a:ea typeface="Arial"/>
                <a:cs typeface="Arial"/>
              </a:rPr>
              <a:t>READY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4D3525C-AA0E-4B3A-B2C5-F630C2580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3429000"/>
            <a:ext cx="556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0E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E0E8"/>
                </a:solidFill>
                <a:latin typeface="Arial"/>
                <a:ea typeface="Arial"/>
                <a:cs typeface="Arial"/>
              </a:rPr>
              <a:t>Use the editable runtime chart. State 28.81 minutes for the latest local evidence and 15 minutes as the remaining target.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051E093-ADAA-48DE-98D8-C6E8120B6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576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1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70303BC-146C-4D2B-A7E1-E35CB5C02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3243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060FEC5-862E-4DCE-AB5E-DF559333E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3243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921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Dynamic-object robustness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BDC6360-27C5-4DE9-838F-BC34A998E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43243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FF7C7C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FF7C7C"/>
                </a:solidFill>
                <a:latin typeface="Arial"/>
                <a:ea typeface="Arial"/>
                <a:cs typeface="Arial"/>
              </a:rPr>
              <a:t>MISSING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81520D-0B8C-461A-B9CF-4190F348D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305300"/>
            <a:ext cx="556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0E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E0E8"/>
                </a:solidFill>
                <a:latin typeface="Arial"/>
                <a:ea typeface="Arial"/>
                <a:cs typeface="Arial"/>
              </a:rPr>
              <a:t>Rerun with AI masking enabled and save one matched before-and-after frame plus its masked reconstruction result.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C95152E-9C5C-4EBA-BC9B-12EF0C105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39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1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3F5F39-69A1-4126-9DAB-031322E29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200650"/>
            <a:ext cx="4381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275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E22863-9BDE-4448-898C-5B2E6DBF8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5200650"/>
            <a:ext cx="295275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4921"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75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GIS interoperability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8BEB9A9-6540-4DF9-8950-F89C38659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5200650"/>
            <a:ext cx="12573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54D6A4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54D6A4"/>
                </a:solidFill>
                <a:latin typeface="Arial"/>
                <a:ea typeface="Arial"/>
                <a:cs typeface="Arial"/>
              </a:rPr>
              <a:t>VERIFIED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AA517ED-7E02-44CC-9813-3CF2FD0C2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5181600"/>
            <a:ext cx="55626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D5E0E8"/>
                </a:solidFill>
                <a:latin typeface="Arial"/>
                <a:ea typeface="Arial"/>
                <a:cs typeface="Arial"/>
              </a:defRPr>
            </a:pPr>
            <a:r>
              <a:rPr sz="1275" b="0" i="0">
                <a:solidFill>
                  <a:srgbClr val="D5E0E8"/>
                </a:solidFill>
                <a:latin typeface="Arial"/>
                <a:ea typeface="Arial"/>
                <a:cs typeface="Arial"/>
              </a:rPr>
              <a:t>Show dsm.tif in QGIS and point_cloud.las in CloudCompare. Both formats and EPSG:32610 metadata passed structural checks.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1BA7ECB-1A1F-4BDC-94BF-6B696DB407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10250"/>
            <a:ext cx="10763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8415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A13B275-B14F-4D0C-8A46-2284E0089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96000"/>
            <a:ext cx="1809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5417"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BA6A6"/>
                </a:solidFill>
                <a:latin typeface="Arial"/>
                <a:ea typeface="Arial"/>
                <a:cs typeface="Arial"/>
              </a:defRPr>
            </a:pPr>
            <a:r>
              <a:rPr sz="1200" b="1" i="0">
                <a:solidFill>
                  <a:srgbClr val="1BA6A6"/>
                </a:solidFill>
                <a:latin typeface="Arial"/>
                <a:ea typeface="Arial"/>
                <a:cs typeface="Arial"/>
              </a:rPr>
              <a:t>Current conclusion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D4ECBBC-C2DD-4C78-87AD-74576FE98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6029325"/>
            <a:ext cx="88201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>
            <a:normAutofit fontScale="81162"/>
          </a:bodyPr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 i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End-to-end output generation is feasible. The speed and one-metre acceptance targets still require stronger evidence.</a:t>
            </a:r>
          </a:p>
        </p:txBody>
      </p:sp>
    </p:spTree>
    <p:extLst>
      <p:ext uri="{BB962C8B-B14F-4D97-AF65-F5344CB8AC3E}">
        <p14:creationId xmlns:p14="http://schemas.microsoft.com/office/powerpoint/2010/main" val="197185177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2026-09-15T04:52:31.3850000Z</dcterms:created>
  <dcterms:modified xsi:type="dcterms:W3CDTF">2026-09-15T04:52:31.3850000Z</dcterms:modified>
</coreProperties>
</file>
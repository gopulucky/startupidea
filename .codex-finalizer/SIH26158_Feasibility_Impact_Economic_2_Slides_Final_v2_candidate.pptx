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bec304cf314ece" /><Relationship Type="http://schemas.openxmlformats.org/officeDocument/2006/relationships/extended-properties" Target="/docProps/app.xml" Id="R11e3c4bac0c94df0" /><Relationship Type="http://schemas.openxmlformats.org/officeDocument/2006/relationships/officeDocument" Target="/ppt/presentation.xml" Id="Rbb3f7eb1cd2440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e1f5ac1b764844"/>
  </p:sldMasterIdLst>
  <p:notesMasterIdLst>
    <p:notesMasterId xmlns:r="http://schemas.openxmlformats.org/officeDocument/2006/relationships" r:id="R059608754be447a4"/>
  </p:notesMasterIdLst>
  <p:sldIdLst>
    <p:sldId xmlns:r="http://schemas.openxmlformats.org/officeDocument/2006/relationships" id="256" r:id="R337cdb0f1f3649d8"/>
    <p:sldId xmlns:r="http://schemas.openxmlformats.org/officeDocument/2006/relationships" id="257" r:id="R332d7446503d4c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9c4e70f6984ea4" /><Relationship Type="http://schemas.openxmlformats.org/officeDocument/2006/relationships/slideMaster" Target="/ppt/slideMasters/slideMaster1.xml" Id="Rcee1f5ac1b764844" /><Relationship Type="http://schemas.openxmlformats.org/officeDocument/2006/relationships/notesMaster" Target="/ppt/notesMasters/notesMaster1.xml" Id="R059608754be447a4" /><Relationship Type="http://schemas.openxmlformats.org/officeDocument/2006/relationships/presProps" Target="/ppt/presProps.xml" Id="Rd25a47eb60ba4075" /><Relationship Type="http://schemas.openxmlformats.org/officeDocument/2006/relationships/tableStyles" Target="/ppt/tableStyles.xml" Id="R5dfce0faabd7493c" /><Relationship Type="http://schemas.openxmlformats.org/officeDocument/2006/relationships/slide" Target="/ppt/slides/slide1.xml" Id="R337cdb0f1f3649d8" /><Relationship Type="http://schemas.openxmlformats.org/officeDocument/2006/relationships/slide" Target="/ppt/slides/slide2.xml" Id="R332d7446503d4c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efcdefe78047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0e3c35dcc04e3b" /><Relationship Type="http://schemas.openxmlformats.org/officeDocument/2006/relationships/notesMaster" Target="/ppt/notesMasters/notesMaster1.xml" Id="Rf596dfb1984a4f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6a03a0b6984184" /><Relationship Type="http://schemas.openxmlformats.org/officeDocument/2006/relationships/notesMaster" Target="/ppt/notesMasters/notesMaster1.xml" Id="R4e4b7ac6aafd43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optimized_v1/run_report.json; optimized_v1/verification_report.json; optimized_v1/preflight.json; optimized_v1/capture_quality.json.</a:t>
            </a:r>
          </a:p>
          <a:p xmlns:a="http://schemas.openxmlformats.org/drawingml/2006/main">
            <a:r>
              <a:t>Input image: SIH26158_HF_Drone_Full253_AB_Colab (1).ipynb, cell 5.</a:t>
            </a:r>
          </a:p>
          <a:p xmlns:a="http://schemas.openxmlformats.org/drawingml/2006/main">
            <a:r>
              <a:t>DSM image: the same notebook, cell 8. Geometry diagnostics: the same notebook, cell 7.</a:t>
            </a:r>
          </a:p>
          <a:p xmlns:a="http://schemas.openxmlformats.org/drawingml/2006/main">
            <a:r>
              <a:t>Runtime evidence: the archived run_report.json records 28.81 minutes for all 253 frames. The project team reports a 15-minute run after reducing the processed frame count. Historical baseline: 80.75 minutes.</a:t>
            </a:r>
          </a:p>
          <a:p xmlns:a="http://schemas.openxmlformats.org/drawingml/2006/main">
            <a:r>
              <a:t>The archive reports no surveyed checkpoints or independent reference surface, so the one-metre surface target remains unevaluated.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Target-user and impact statements describe intended operational use; they are not measured deployment outcomes.</a:t>
            </a:r>
          </a:p>
          <a:p xmlns:a="http://schemas.openxmlformats.org/drawingml/2006/main">
            <a:r>
              <a:t>The archived run_report.json records 28.81 minutes for all 253 frames. The project team reports a 15-minute run after reducing the processed frame count.</a:t>
            </a:r>
          </a:p>
          <a:p xmlns:a="http://schemas.openxmlformats.org/drawingml/2006/main">
            <a:r>
              <a:t>Usage proxy: cumulative villages where drone flying was completed under India's SVAMITVA programme.</a:t>
            </a:r>
          </a:p>
          <a:p xmlns:a="http://schemas.openxmlformats.org/drawingml/2006/main">
            <a:r>
              <a:t>2021, 90,504 villages: https://www.pib.gov.in/PressReleasePage.aspx?PRID=1786259</a:t>
            </a:r>
          </a:p>
          <a:p xmlns:a="http://schemas.openxmlformats.org/drawingml/2006/main">
            <a:r>
              <a:t>2022, 203,118 villages: https://www.pib.gov.in/PressReleasePage.aspx?PRID=1885885</a:t>
            </a:r>
          </a:p>
          <a:p xmlns:a="http://schemas.openxmlformats.org/drawingml/2006/main">
            <a:r>
              <a:t>2023, 289,000 villages: https://www.pib.gov.in/Pressreleaseshare.aspx?PRID=1991702</a:t>
            </a:r>
          </a:p>
          <a:p xmlns:a="http://schemas.openxmlformats.org/drawingml/2006/main">
            <a:r>
              <a:t>2024, 317,000 villages: https://www.pib.gov.in/Pressreleaseshare.aspx?PRID=2090152</a:t>
            </a:r>
          </a:p>
          <a:p xmlns:a="http://schemas.openxmlformats.org/drawingml/2006/main">
            <a:r>
              <a:t>2025, 328,000 villages: https://www.pib.gov.in/PressReleasePage.aspx?PRID=2209532</a:t>
            </a:r>
          </a:p>
          <a:p xmlns:a="http://schemas.openxmlformats.org/drawingml/2006/main">
            <a:r>
              <a:t>SVAMITVA programme cost of ₹566.23 crore through FY 2025-26: https://static.pib.gov.in/WriteReadData/specificdocs/documents/2025/apr/doc2025423544601.pdf</a:t>
            </a:r>
          </a:p>
          <a:p xmlns:a="http://schemas.openxmlformats.org/drawingml/2006/main">
            <a:r>
              <a:t>Compute-cost index calculation: historical 80.75 minutes = 100. Full run = 28.81 / 80.75 × 100 = 35.7. Rapid run = 15 / 80.75 × 100 = 18.6.</a:t>
            </a:r>
          </a:p>
          <a:p xmlns:a="http://schemas.openxmlformats.org/drawingml/2006/main">
            <a:r>
              <a:t>The cost index assumes the same usage-based GPU hourly rate. It does not estimate capture, labour, storage, software licensing or hardware depreciation.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43f7fed5748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74e02d0a5d4cbd" /><Relationship Type="http://schemas.openxmlformats.org/officeDocument/2006/relationships/slideLayout" Target="/ppt/slideLayouts/slideLayout1.xml" Id="R8df4ade121b745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f4ade121b745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b22621d484e2e" /><Relationship Type="http://schemas.openxmlformats.org/officeDocument/2006/relationships/image" Target="/ppt/media/image.png" Id="R3a80b360827d40d0" /><Relationship Type="http://schemas.openxmlformats.org/officeDocument/2006/relationships/image" Target="/ppt/media/image2.png" Id="R725e344059fe4962" /><Relationship Type="http://schemas.openxmlformats.org/officeDocument/2006/relationships/chart" Target="/ppt/slides/charts/chart1.xml" Id="R5ea2ff28959f4676" /><Relationship Type="http://schemas.openxmlformats.org/officeDocument/2006/relationships/image" Target="/ppt/media/image3.png" Id="Re242186719614d09" /><Relationship Type="http://schemas.openxmlformats.org/officeDocument/2006/relationships/notesSlide" Target="/ppt/notesSlides/notesSlide1.xml" Id="Rfc9f638946e849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4814277c04077" /><Relationship Type="http://schemas.openxmlformats.org/officeDocument/2006/relationships/chart" Target="/ppt/slides/charts/chart2.xml" Id="R0e129d4a0fb5474e" /><Relationship Type="http://schemas.openxmlformats.org/officeDocument/2006/relationships/chart" Target="/ppt/slides/charts/chart3.xml" Id="R408528c3361446cf" /><Relationship Type="http://schemas.openxmlformats.org/officeDocument/2006/relationships/notesSlide" Target="/ppt/notesSlides/notesSlide2.xml" Id="R10c7547625534bf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94B9D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</c:v>
              </c:pt>
              <c:pt idx="1">
                <c:v>253 frames</c:v>
              </c:pt>
              <c:pt idx="2">
                <c:v>Reduced frames</c:v>
              </c:pt>
            </c:strLit>
          </c:cat>
          <c:val>
            <c:numLit>
              <c:formatCode>0.00</c:formatCode>
              <c:ptCount val="3"/>
              <c:pt idx="0">
                <c:v>80.75</c:v>
              </c:pt>
              <c:pt idx="1">
                <c:v>28.81</c:v>
              </c:pt>
              <c:pt idx="2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Villages surveyed, thousands</c:v>
          </c:tx>
          <c:spPr>
            <a:solidFill xmlns:a="http://schemas.openxmlformats.org/drawingml/2006/main">
              <a:srgbClr val="0EA5A0"/>
            </a:solidFill>
          </c:spPr>
          <c:cat>
            <c:numLit>
              <c:formatCode>General</c:formatCode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numLit>
          </c:cat>
          <c:val>
            <c:numLit>
              <c:formatCode>0.0</c:formatCode>
              <c:ptCount val="5"/>
              <c:pt idx="0">
                <c:v>90.504</c:v>
              </c:pt>
              <c:pt idx="1">
                <c:v>203.118</c:v>
              </c:pt>
              <c:pt idx="2">
                <c:v>289</c:v>
              </c:pt>
              <c:pt idx="3">
                <c:v>317</c:v>
              </c:pt>
              <c:pt idx="4">
                <c:v>328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FE7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Compute-cost index</c:v>
          </c:tx>
          <c:spPr>
            <a:solidFill xmlns:a="http://schemas.openxmlformats.org/drawingml/2006/main">
              <a:srgbClr val="A9C4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</c:v>
              </c:pt>
              <c:pt idx="1">
                <c:v>Our full</c:v>
              </c:pt>
              <c:pt idx="2">
                <c:v>Our rapid</c:v>
              </c:pt>
            </c:strLit>
          </c:cat>
          <c:val>
            <c:numLit>
              <c:formatCode>0.0</c:formatCode>
              <c:ptCount val="3"/>
              <c:pt idx="0">
                <c:v>100</c:v>
              </c:pt>
              <c:pt idx="1">
                <c:v>35.7</c:v>
              </c:pt>
              <c:pt idx="2">
                <c:v>18.6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1B44ED-2F53-40C2-9571-12CAED4C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Feasibility proof from completed drone-video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2CF0D-114C-4485-95A1-759B4142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31873-48D9-4135-B0E6-06C1B647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1973A-BB52-4709-95CF-9B2D88ED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14400"/>
            <a:ext cx="190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7FF6C-B9E6-4B73-A80E-4662C50B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95675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9B4EE-506B-4F81-A7FE-121837A9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DD94F-7FF5-4475-A628-B6AF4A4F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INPUT CAPTURE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0b360827d40d0"/>
          <a:srcRect xmlns:a="http://schemas.openxmlformats.org/drawingml/2006/main" l="0" t="19524" r="0" b="19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95400"/>
            <a:ext cx="5381625" cy="1752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2F909-2457-4B73-8BC8-CBA3DFC0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C3062-5DA5-4714-BBF5-B4B54C91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24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4.19-minute flight     253 keyframes     2,525 telemetry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03CD0-BB9A-4060-9667-CE6C0DFE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D8CA0-5945-4F3E-A623-D0067DCB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OUTPUT PRODUCTS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e344059fe4962"/>
          <a:stretch xmlns:a="http://schemas.openxmlformats.org/drawingml/2006/main"/>
        </p:blipFill>
        <p:spPr>
          <a:xfrm xmlns:a="http://schemas.openxmlformats.org/drawingml/2006/main">
            <a:off x="6661197" y="1285875"/>
            <a:ext cx="1822356" cy="2057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0FA30-67DD-48A4-8440-5DB235A9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604,982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72977-8B74-4B0E-9651-251BC687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COLOURED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ABA14-C739-47F0-B7CB-AE614A9F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361,510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DF65C-CDA7-4F6F-B606-A2EA7DA1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43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MESH 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50C9B-CBF4-4B0E-A5D4-DFA822F7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GLB, LAS and GeoTIFF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3DB4B-6A72-4351-BC84-8E9D862B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EPSG:32610    DSM 0.5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8234B-8613-4B2B-9571-E7DB31C9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45100-2AE2-43A7-ABEF-95653CA2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RUNTIME PROOF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361950" y="4057650"/>
          <a:ext xmlns:a="http://schemas.openxmlformats.org/drawingml/2006/main" cx="4076700" cy="2019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a2ff28959f4676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C3930-3310-4E6C-80C5-C090F93E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0" y="4572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Processing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6C3E6-FE2D-4467-A699-20B902C1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953125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Runtime (minutes)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7B9B3D-B9DB-497D-85C2-D5328D71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15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6E795A-37E5-4F93-A6B9-8E43CADB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672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reduced frames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CC8E8A-0AB1-452F-B8C5-E140DCE2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76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target achieved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E358B4-E213-456C-B3F2-51FBD6EC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28.81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83D11F-79F0-4D7D-BC4D-AF44F2E6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292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all 253 frames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E6E084-C231-4E02-8FB8-1BA12A8F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91C00C-ECE9-4651-8375-34D94CDB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2186719614d09"/>
          <a:stretch xmlns:a="http://schemas.openxmlformats.org/drawingml/2006/main"/>
        </p:blipFill>
        <p:spPr>
          <a:xfrm xmlns:a="http://schemas.openxmlformats.org/drawingml/2006/main">
            <a:off x="6493454" y="4067175"/>
            <a:ext cx="3205591" cy="19621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337D5B-291A-4B0D-8B7B-6AFF5B11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338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AC2CF5-37F6-4999-9BE2-CAEF32EA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2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capture screen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690AB9-987F-43FA-B745-D83C0110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101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0.458 px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8D6191-7F1B-4D2C-9EF7-31938025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05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reprojection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67D49F-FE6A-4EB2-A8A1-01B2C305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86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46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646"/>
                </a:solidFill>
                <a:latin typeface="Arial"/>
                <a:ea typeface="Arial"/>
                <a:cs typeface="Arial"/>
              </a:rPr>
              <a:t>81.82%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23BF19-36E9-49AA-AD77-16B2017C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81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registered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1C9EB9-C996-4A71-8878-680C7059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1146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96539D-69B8-423A-AE7B-5410FD1A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4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8412"/>
                </a:solidFill>
                <a:latin typeface="Arial"/>
                <a:ea typeface="Arial"/>
                <a:cs typeface="Arial"/>
              </a:rPr>
              <a:t>Accuracy proof pending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909560-5BDB-4B7A-B992-BDB0A504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391275"/>
            <a:ext cx="899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Independent checkpoint RMSE has not been evaluated. GPS camera RMSE cannot prove the one-metre surface target.</a:t>
            </a:r>
          </a:p>
        </p:txBody>
      </p:sp>
    </p:spTree>
    <p:extLst>
      <p:ext uri="{BB962C8B-B14F-4D97-AF65-F5344CB8AC3E}">
        <p14:creationId xmlns:p14="http://schemas.microsoft.com/office/powerpoint/2010/main" val="19908016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77E1E7-4090-4C0C-8249-4E065F65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Impact, benefits and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A6880-344C-4730-8809-3E012992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7B82A-041C-4968-97AE-CE06FA30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D65A0-7244-45B2-8BFB-39EDC6FF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914400"/>
            <a:ext cx="19050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71DAD-AA8A-44A5-8DAC-EF3466E6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DIRECT IMPACT ON TARGET 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168D1-9695-45BB-9621-05A5BDE8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954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Survey and GIS teams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189B2-AB77-4442-83D7-5CA2C2CB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54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3D model + DSM from one drone flight.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3552E-7B53-491F-830B-494B873C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Infrastructure teams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447DD-0C5F-4491-A697-E944C76E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145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Inspect difficult terrain before field deployment.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B3DE8-A4AC-4C73-8314-56C6032C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336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Emergency response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B1A29-3D3F-4F94-90A5-B3D456AC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336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15-minute rapid site assessment.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F55B6-90E9-4322-B452-18AF55A4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955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ECONOMIC &amp; OPERATIONAL BENEFITS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E5462-7237-4456-9804-04246EEC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194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Lower survey overhead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79CB8-3A35-4C82-9CC1-CD2FDF95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19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Reuse existing drone video and telemetry.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8535B-ABF0-4A20-A3E6-3FC09CC7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385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Faster turnaround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74AD6-7552-44A6-8381-DEEFF851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385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15 min rapid / 28.81 min full-detail run.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88626-6165-43E7-B5BA-9CCE7FFF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576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Portable 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A73B0-FBAE-417A-81F3-D5F73B64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GLB, LAS and GeoTIFF avoid tool lock-in.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0F246-EBA5-4EC4-8332-1AE133A4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STRATEGIC IMPACT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DB0E2F-4C16-4AB3-A12A-E05BD5C9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434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Local geospatial capability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10B71A-C6CD-4A52-9BA8-1EF852AE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434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Open pipeline, reports and standard outputs.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93295B-0AD7-4C16-9119-CDA79714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625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Shared operational picture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0B993-4B36-401D-B3DF-E1274EF3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625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GIS, 3D and browser-ready mission data.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CA4252-A288-4A18-AB3E-817C143E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816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Scales with each mission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DA364A-93CE-40D7-A608-73CC82C2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816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Choose rapid mode or full 253-frame detail.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BD4A37-6B74-44A4-A651-E739A7AC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971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5-YEAR USAGE SIGNAL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8F72BB-3090-454B-8DC2-CB30E0AB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200150"/>
            <a:ext cx="4333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SVAMITVA villages surveyed (thousands)</a:t>
            </a:r>
          </a:p>
        </p:txBody>
      </p:sp>
      <p:graphicFrame>
        <p:nvGraphicFramePr>
          <p:cNvPr id="70" name="Chart"/>
          <p:cNvGraphicFramePr/>
          <p:nvPr/>
        </p:nvGraphicFramePr>
        <p:xfrm>
          <a:off xmlns:a="http://schemas.openxmlformats.org/drawingml/2006/main" x="5143500" y="1438275"/>
          <a:ext xmlns:a="http://schemas.openxmlformats.org/drawingml/2006/main" cx="4333875" cy="2009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129d4a0fb5474e"/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7B7FEC-0E91-44C2-A201-20665C93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457325"/>
            <a:ext cx="1857375" cy="8667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B77568-993F-43AC-9AEC-ED10B8D3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6210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3.6×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EE3D85-365F-4F25-982A-D4A23456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4310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usage since 2021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CC2FDD-89AA-4682-991F-F3BF9DBF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505075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D90AC8-444C-4E57-AA1C-17B925CC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6384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84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88412"/>
                </a:solidFill>
                <a:latin typeface="Arial"/>
                <a:ea typeface="Arial"/>
                <a:cs typeface="Arial"/>
              </a:rPr>
              <a:t>₹566.23 cr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EDD472-044C-4EDF-A049-20A586CF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003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programme scale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2189B4-E162-4D34-A976-08703B70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957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OUR PROCESSING-COST CHANGE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31FE3F-84AD-437A-89BE-3225C3AC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24300"/>
            <a:ext cx="4333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Variable GPU cost index · historical run = 100</a:t>
            </a:r>
          </a:p>
        </p:txBody>
      </p:sp>
      <p:graphicFrame>
        <p:nvGraphicFramePr>
          <p:cNvPr id="79" name="Chart"/>
          <p:cNvGraphicFramePr/>
          <p:nvPr/>
        </p:nvGraphicFramePr>
        <p:xfrm>
          <a:off xmlns:a="http://schemas.openxmlformats.org/drawingml/2006/main" x="5143500" y="4143375"/>
          <a:ext xmlns:a="http://schemas.openxmlformats.org/drawingml/2006/main" cx="4333875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8528c3361446cf"/>
          </a:graphicData>
        </a:graphic>
      </p:graphicFrame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0773AB-1CF2-4537-9EC6-9F7BAD85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91000"/>
            <a:ext cx="1857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953FF7-9CB8-46DC-842D-B9B4C5CC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29125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6FE1D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FE1D7"/>
                </a:solidFill>
                <a:latin typeface="Arial"/>
                <a:ea typeface="Arial"/>
                <a:cs typeface="Arial"/>
              </a:rPr>
              <a:t>81%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2DDFCB-D000-420D-A653-50436E52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149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lower GPU time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77EF1B-7CBC-444E-A2A2-3089D690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5780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9E6F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6F0"/>
                </a:solidFill>
                <a:latin typeface="Arial"/>
                <a:ea typeface="Arial"/>
                <a:cs typeface="Arial"/>
              </a:rPr>
              <a:t>15 min rapid mode</a:t>
            </a:r>
          </a:p>
          <a:p xmlns:a="http://schemas.openxmlformats.org/drawingml/2006/main">
            <a:pPr algn="ctr">
              <a:defRPr sz="975" b="0">
                <a:solidFill>
                  <a:srgbClr val="D9E6F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6F0"/>
                </a:solidFill>
                <a:latin typeface="Arial"/>
                <a:ea typeface="Arial"/>
                <a:cs typeface="Arial"/>
              </a:rPr>
              <a:t>vs 80.75 min historical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194FA8-94E2-479C-9C0A-1D2D404D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131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Usage proxy: Government of India SVAMITVA data. Cost index assumes the same usage-based GPU rate; capture, labour and licensing excluded.</a:t>
            </a:r>
          </a:p>
        </p:txBody>
      </p:sp>
    </p:spTree>
    <p:extLst>
      <p:ext uri="{BB962C8B-B14F-4D97-AF65-F5344CB8AC3E}">
        <p14:creationId xmlns:p14="http://schemas.microsoft.com/office/powerpoint/2010/main" val="339135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2026-09-15T06:33:53.7130000Z</dcterms:created>
  <dcterms:modified xsi:type="dcterms:W3CDTF">2026-09-15T06:33:53.7130000Z</dcterms:modified>
</coreProperties>
</file>
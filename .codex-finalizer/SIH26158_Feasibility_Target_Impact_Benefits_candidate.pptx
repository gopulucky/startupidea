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4e789a9c54463" /><Relationship Type="http://schemas.openxmlformats.org/officeDocument/2006/relationships/extended-properties" Target="/docProps/app.xml" Id="R8ca06ae603034019" /><Relationship Type="http://schemas.openxmlformats.org/officeDocument/2006/relationships/officeDocument" Target="/ppt/presentation.xml" Id="R52915732efbe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27a1cc2fed4ccc"/>
  </p:sldMasterIdLst>
  <p:notesMasterIdLst>
    <p:notesMasterId xmlns:r="http://schemas.openxmlformats.org/officeDocument/2006/relationships" r:id="Raa910614f6d64403"/>
  </p:notesMasterIdLst>
  <p:sldIdLst>
    <p:sldId xmlns:r="http://schemas.openxmlformats.org/officeDocument/2006/relationships" id="256" r:id="R139ce632e5794736"/>
    <p:sldId xmlns:r="http://schemas.openxmlformats.org/officeDocument/2006/relationships" id="257" r:id="R0c8bdcd677f04e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a4e631bc8d4062" /><Relationship Type="http://schemas.openxmlformats.org/officeDocument/2006/relationships/slideMaster" Target="/ppt/slideMasters/slideMaster1.xml" Id="Rcf27a1cc2fed4ccc" /><Relationship Type="http://schemas.openxmlformats.org/officeDocument/2006/relationships/notesMaster" Target="/ppt/notesMasters/notesMaster1.xml" Id="Raa910614f6d64403" /><Relationship Type="http://schemas.openxmlformats.org/officeDocument/2006/relationships/presProps" Target="/ppt/presProps.xml" Id="R8468da9e73584cb4" /><Relationship Type="http://schemas.openxmlformats.org/officeDocument/2006/relationships/tableStyles" Target="/ppt/tableStyles.xml" Id="R12adaabdd1ad4c74" /><Relationship Type="http://schemas.openxmlformats.org/officeDocument/2006/relationships/slide" Target="/ppt/slides/slide1.xml" Id="R139ce632e5794736" /><Relationship Type="http://schemas.openxmlformats.org/officeDocument/2006/relationships/slide" Target="/ppt/slides/slide2.xml" Id="R0c8bdcd677f0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1ab097268440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468cd5ff04e58" /><Relationship Type="http://schemas.openxmlformats.org/officeDocument/2006/relationships/notesMaster" Target="/ppt/notesMasters/notesMaster1.xml" Id="Ra62520049aba4d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2de6170e8341e9" /><Relationship Type="http://schemas.openxmlformats.org/officeDocument/2006/relationships/notesMaster" Target="/ppt/notesMasters/notesMaster1.xml" Id="R32d65b8a442a4e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follows the supplied impact-slide structure while retaining the project's navy and teal visual system.</a:t>
            </a:r>
          </a:p>
          <a:p xmlns:a="http://schemas.openxmlformats.org/drawingml/2006/main">
            <a:r>
              <a:t>DSM image: SIH26158_HF_Drone_Optimization_1088_Colab.ipynb, optimized candidate DSM output.</a:t>
            </a:r>
          </a:p>
          <a:p xmlns:a="http://schemas.openxmlformats.org/drawingml/2006/main">
            <a:r>
              <a:t>The archived run_report.json records 28.81 minutes for all 253 frames. The project team reports a 15-minute run after reducing the processed frame count.</a:t>
            </a:r>
          </a:p>
          <a:p xmlns:a="http://schemas.openxmlformats.org/drawingml/2006/main">
            <a:r>
              <a:t>Target-user and impact statements describe intended operational use. They are not measured cost savings, response-time improvements or deployment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22f1949ca47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e83a329994f58" /><Relationship Type="http://schemas.openxmlformats.org/officeDocument/2006/relationships/slideLayout" Target="/ppt/slideLayouts/slideLayout1.xml" Id="R802c27b4a9f440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c27b4a9f440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b3f92d9be4244" /><Relationship Type="http://schemas.openxmlformats.org/officeDocument/2006/relationships/image" Target="/ppt/media/image.png" Id="Re7e2a925e0ed4e0c" /><Relationship Type="http://schemas.openxmlformats.org/officeDocument/2006/relationships/image" Target="/ppt/media/image2.png" Id="R813956398cab4be6" /><Relationship Type="http://schemas.openxmlformats.org/officeDocument/2006/relationships/chart" Target="/ppt/slides/charts/chart1.xml" Id="R1aa55a6a75954b30" /><Relationship Type="http://schemas.openxmlformats.org/officeDocument/2006/relationships/image" Target="/ppt/media/image3.png" Id="Ra25ba7d7d17547dc" /><Relationship Type="http://schemas.openxmlformats.org/officeDocument/2006/relationships/notesSlide" Target="/ppt/notesSlides/notesSlide1.xml" Id="R9b35e122726940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7add822dd4ca4" /><Relationship Type="http://schemas.openxmlformats.org/officeDocument/2006/relationships/image" Target="/ppt/media/image4.png" Id="R8275edc5998949a6" /><Relationship Type="http://schemas.openxmlformats.org/officeDocument/2006/relationships/notesSlide" Target="/ppt/notesSlides/notesSlide2.xml" Id="R02cb4d79c03f4de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AC15D3-4B08-42BA-B296-38DECB5E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BD693-0D5B-4C0A-8FD2-6C54A57E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031C5-3D1F-43E4-9800-A6CBC910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111C5-A9EA-4D0F-ABA7-193DB1E1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CA1AC-8A9F-473C-BCAF-EAB3AC2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36970-6B43-4312-BDA1-6F14FA5F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2F119-3668-43E8-AD58-5367D91B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2a925e0ed4e0c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68435-06ED-4E57-B01F-9DAE9D6F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9BC2C-6A97-4E0B-BAE6-3EDF893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04E76-1B6D-4CFB-A8CE-CEAC15B2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C5E0C-5D05-44FB-92AC-D4F18E0E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956398cab4be6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00060-3262-47F3-8EF9-D4832C44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D5E34-7F8C-491C-8E73-67FF022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CC057-16DB-4F12-8E60-4A546225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A8B3E-D412-45D5-B828-2A761988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3F07D-305E-4543-A65E-930A26CD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CD226-4FD2-4F3B-B2E1-9BD11698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46CE2-57FB-4733-96F0-4CCD156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39418-0A71-4F54-A42E-BB31EA4E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a55a6a75954b30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F649E-8239-493B-81BB-A443E17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4572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Processing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A6EA6-6007-4D05-8A36-EACEB81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53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 (minutes)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EDCDD-1406-4E2F-9627-CC0E379C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3F3E00-2BA8-49B0-9F21-F9EFCB98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077E3-00F4-40DA-9396-59D781A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A877C-12E1-43BD-BE8E-B27980E4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981BC5-5353-4EBE-8E4E-4A5E1539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EA512-2246-4DD3-9FE0-75CEB96B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7A2342-0809-43E2-8553-AC8728BF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ba7d7d17547dc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CD225-3784-4266-8F80-33B0EC7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DDDE0-987A-4360-AC1C-872C556F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61902C-8959-46B7-8322-FA5668A2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FA755E-0C12-4B2A-A602-E36F7EDB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79B1FC-C0AE-4642-9D2E-8934C57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2834CB-078E-4991-AAAD-3BD157C3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34F4B-E0EF-44CB-9316-4EDD9074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22547B-3434-4BBE-9806-BFF88738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E0AE8D-1E15-4541-90CF-53A7EC14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401701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21178-47BD-4282-A027-E8C933DC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Benefits and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AA10B-9023-412D-A889-8E4F9E2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28710-A053-49CF-ADB3-C1A5EE3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C94C0-8AC5-4A37-A163-F5D9EDFD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14400"/>
            <a:ext cx="190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34342-DF1B-441F-8029-5F766342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30A74-24A7-4B01-85D0-2520EAB4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84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17D9B-38ED-4749-950D-DC0D384A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DIRECT IMPACT ON TARGET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A7B6D-5770-4D69-933B-84B128D6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Survey and GIS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4AF7D-139F-4CC2-8DD9-257E0C22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3D model and DSM from one drone flight.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B62AF-7D20-4955-BBB0-C7D0CE1E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Infrastructure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55B37-24D9-42AA-A2AF-A3DD9727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24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Inspect difficult terrain before field deployment.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AA1E0-179B-4C41-9254-84FA6CB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336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Emergency response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270EA-A9D2-432F-A3F6-131F3054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15-minute mode supports rapid site assessment.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09711-2AEE-4F6B-9715-5761FA9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STRATEGIC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42775-CACC-40BD-80AB-092A7E66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Local geospatial 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BDBE4-05DA-4E9A-A883-CF529E98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672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Open pipeline, reports and standard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4C053-2592-4CA2-A585-AE949B8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Shared operational picture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BF180-4C02-4857-8B8F-6703F12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GIS, 3D and browser-ready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948B6-1CCA-4E82-96CC-55644D2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530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Scales with each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7D4A8-D398-44D7-B0CB-3B8ADE0E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97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Rapid mode or full 253-frame reconstruction.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10800-CDB9-4B48-8FE3-7F21185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62025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ECONOMIC AND OPERATIONAL BENEFITS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618AA-E5A5-4A57-BC7A-9D026159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8112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Lower survey overhead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C3EE3-8853-40F7-8613-FA18EC5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478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Reuse existing drone video and telemetry.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19A8A-B9DF-4436-8797-E504C0D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Faster turnaround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0265B-E0A9-42B0-9CF9-9B0BE757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15 min rapid mode, 28.81 min full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B6908-FE57-4744-905A-F5524FFA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509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Reduced tool lock-in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39BBA-AC84-4E0F-9825-A6B281AE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GLB, LAS and GeoTIFF remain portable.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380D14-6E36-4D6C-8C92-74FE37D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REUSABLE GIS OUTPUT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5edc5998949a6"/>
          <a:stretch xmlns:a="http://schemas.openxmlformats.org/drawingml/2006/main"/>
        </p:blipFill>
        <p:spPr>
          <a:xfrm xmlns:a="http://schemas.openxmlformats.org/drawingml/2006/main">
            <a:off x="7751832" y="3714750"/>
            <a:ext cx="2308087" cy="261937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AC500-61B3-4C8C-8F1C-27486EE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DSM 0.5 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916F3B-5E7D-4C71-BDF5-7E87A88D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57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7A727-006A-470E-A50C-B47D4775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054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Ready for GIS</a:t>
            </a:r>
          </a:p>
        </p:txBody>
      </p:sp>
    </p:spTree>
    <p:extLst>
      <p:ext uri="{BB962C8B-B14F-4D97-AF65-F5344CB8AC3E}">
        <p14:creationId xmlns:p14="http://schemas.microsoft.com/office/powerpoint/2010/main" val="995893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2026-09-15T06:07:46.1450000Z</dcterms:created>
  <dcterms:modified xsi:type="dcterms:W3CDTF">2026-09-15T06:07:46.1450000Z</dcterms:modified>
</coreProperties>
</file>
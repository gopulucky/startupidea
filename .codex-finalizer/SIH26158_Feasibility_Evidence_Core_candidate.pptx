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c5ff00c8c04bcd" /><Relationship Type="http://schemas.openxmlformats.org/officeDocument/2006/relationships/extended-properties" Target="/docProps/app.xml" Id="R218e9a7094f14edd" /><Relationship Type="http://schemas.openxmlformats.org/officeDocument/2006/relationships/officeDocument" Target="/ppt/presentation.xml" Id="R5ef521b7124d42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ba9ae8a4724a40"/>
  </p:sldMasterIdLst>
  <p:notesMasterIdLst>
    <p:notesMasterId xmlns:r="http://schemas.openxmlformats.org/officeDocument/2006/relationships" r:id="Rddc9d884bf364977"/>
  </p:notesMasterIdLst>
  <p:sldIdLst>
    <p:sldId xmlns:r="http://schemas.openxmlformats.org/officeDocument/2006/relationships" id="256" r:id="R3f01eecfac77412f"/>
    <p:sldId xmlns:r="http://schemas.openxmlformats.org/officeDocument/2006/relationships" id="257" r:id="R1276b62d17a1487b"/>
    <p:sldId xmlns:r="http://schemas.openxmlformats.org/officeDocument/2006/relationships" id="258" r:id="R062a79a046994fe5"/>
    <p:sldId xmlns:r="http://schemas.openxmlformats.org/officeDocument/2006/relationships" id="259" r:id="R041f6ad42e9a4ccf"/>
    <p:sldId xmlns:r="http://schemas.openxmlformats.org/officeDocument/2006/relationships" id="260" r:id="Rc4440b87f25d4506"/>
    <p:sldId xmlns:r="http://schemas.openxmlformats.org/officeDocument/2006/relationships" id="261" r:id="Rf90a92f1881448e4"/>
    <p:sldId xmlns:r="http://schemas.openxmlformats.org/officeDocument/2006/relationships" id="262" r:id="R3e283df74b354c1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c6fbe1e5884ddf" /><Relationship Type="http://schemas.openxmlformats.org/officeDocument/2006/relationships/slideMaster" Target="/ppt/slideMasters/slideMaster1.xml" Id="R2aba9ae8a4724a40" /><Relationship Type="http://schemas.openxmlformats.org/officeDocument/2006/relationships/notesMaster" Target="/ppt/notesMasters/notesMaster1.xml" Id="Rddc9d884bf364977" /><Relationship Type="http://schemas.openxmlformats.org/officeDocument/2006/relationships/presProps" Target="/ppt/presProps.xml" Id="R7026de4058ff42d5" /><Relationship Type="http://schemas.openxmlformats.org/officeDocument/2006/relationships/tableStyles" Target="/ppt/tableStyles.xml" Id="R8a5750a632f0487f" /><Relationship Type="http://schemas.openxmlformats.org/officeDocument/2006/relationships/slide" Target="/ppt/slides/slide1.xml" Id="R3f01eecfac77412f" /><Relationship Type="http://schemas.openxmlformats.org/officeDocument/2006/relationships/slide" Target="/ppt/slides/slide2.xml" Id="R1276b62d17a1487b" /><Relationship Type="http://schemas.openxmlformats.org/officeDocument/2006/relationships/slide" Target="/ppt/slides/slide3.xml" Id="R062a79a046994fe5" /><Relationship Type="http://schemas.openxmlformats.org/officeDocument/2006/relationships/slide" Target="/ppt/slides/slide4.xml" Id="R041f6ad42e9a4ccf" /><Relationship Type="http://schemas.openxmlformats.org/officeDocument/2006/relationships/slide" Target="/ppt/slides/slide5.xml" Id="Rc4440b87f25d4506" /><Relationship Type="http://schemas.openxmlformats.org/officeDocument/2006/relationships/slide" Target="/ppt/slides/slide6.xml" Id="Rf90a92f1881448e4" /><Relationship Type="http://schemas.openxmlformats.org/officeDocument/2006/relationships/slide" Target="/ppt/slides/slide7.xml" Id="R3e283df74b354c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272e29016640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177135fc2b4e29" /><Relationship Type="http://schemas.openxmlformats.org/officeDocument/2006/relationships/notesMaster" Target="/ppt/notesMasters/notesMaster1.xml" Id="R9b209f881d8341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e02d506faa403f" /><Relationship Type="http://schemas.openxmlformats.org/officeDocument/2006/relationships/notesMaster" Target="/ppt/notesMasters/notesMaster1.xml" Id="Rc8000e5b6b1b4a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19c4263a9641b0" /><Relationship Type="http://schemas.openxmlformats.org/officeDocument/2006/relationships/notesMaster" Target="/ppt/notesMasters/notesMaster1.xml" Id="R320374f5a52548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75aaf2e0a44110" /><Relationship Type="http://schemas.openxmlformats.org/officeDocument/2006/relationships/notesMaster" Target="/ppt/notesMasters/notesMaster1.xml" Id="Rc344f134347a4d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60da7737c14b0a" /><Relationship Type="http://schemas.openxmlformats.org/officeDocument/2006/relationships/notesMaster" Target="/ppt/notesMasters/notesMaster1.xml" Id="R2023a818efb644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e35429356545b0" /><Relationship Type="http://schemas.openxmlformats.org/officeDocument/2006/relationships/notesMaster" Target="/ppt/notesMasters/notesMaster1.xml" Id="R60c7fed569dc4a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068c621a47434a" /><Relationship Type="http://schemas.openxmlformats.org/officeDocument/2006/relationships/notesMaster" Target="/ppt/notesMasters/notesMaster1.xml" Id="R6ebe58ccfe4b47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evidence boundary: the repository demonstrates end-to-end technical feasibility.</a:t>
            </a:r>
          </a:p>
          <a:p xmlns:a="http://schemas.openxmlformats.org/drawingml/2006/main">
            <a:r>
              <a:t>Do not claim the 15-minute target or one-metre surface accuracy from this archived run.</a:t>
            </a:r>
          </a:p>
          <a:p xmlns:a="http://schemas.openxmlformats.org/drawingml/2006/main">
            <a:r>
              <a:t>Source image: SIH26158_HF_Drone_Full253_AB_Colab (1).ipynb, cell 5 output.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proves that the reconstruction used one continuous video with synchronized telemetry.</a:t>
            </a:r>
          </a:p>
          <a:p xmlns:a="http://schemas.openxmlformats.org/drawingml/2006/main">
            <a:r>
              <a:t>The telemetry plot and flight frames come from the controlled full-253-frame experiment notebook.</a:t>
            </a:r>
          </a:p>
          <a:p xmlns:a="http://schemas.openxmlformats.org/drawingml/2006/main">
            <a:r>
              <a:t>Sources: SIH26158/evidence_20260914_080536/input_summary.json; preflight.json; frames.selection.json.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DSM image as visible evidence that the pipeline exported a georeferenced raster.</a:t>
            </a:r>
          </a:p>
          <a:p xmlns:a="http://schemas.openxmlformats.org/drawingml/2006/main">
            <a:r>
              <a:t>The verification report validates the GLB header and JSON chunk, LAS point count and CRS, GeoTIFF dimensions and CRS, and mesh structure.</a:t>
            </a:r>
          </a:p>
          <a:p xmlns:a="http://schemas.openxmlformats.org/drawingml/2006/main">
            <a:r>
              <a:t>Source: SIH26158/evidence_20260914_080536/verification_report.json and run_report.json.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bars combine documented experiment outputs and the latest archived evidence run.</a:t>
            </a:r>
          </a:p>
          <a:p xmlns:a="http://schemas.openxmlformats.org/drawingml/2006/main">
            <a:r>
              <a:t>Do not imply that every historical bar is an identical configuration. Use the chart as optimization history.</a:t>
            </a:r>
          </a:p>
          <a:p xmlns:a="http://schemas.openxmlformats.org/drawingml/2006/main">
            <a:r>
              <a:t>The latest evidence package reports 1,728.47 seconds wall clock and 1,522.40 seconds across reconstruction stages.</a:t>
            </a:r>
          </a:p>
          <a:p xmlns:a="http://schemas.openxmlformats.org/drawingml/2006/main">
            <a:r>
              <a:t>Sources: SIH26158_HF_Drone_Full253_AB_Colab (1).ipynb cell 7; SIH26158_HF_Drone_Frontend_Sparse_AB_Colab.ipynb cell 17; SIH26158/evidence_20260914_080536/run_report.json.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capture-quality gate is a risk screen, not an accuracy certificate.</a:t>
            </a:r>
          </a:p>
          <a:p xmlns:a="http://schemas.openxmlformats.org/drawingml/2006/main">
            <a:r>
              <a:t>Geometry-aware selection improved the median baseline and parallax in the controlled comparison, but the archived run registered only 81.82% of selected images.</a:t>
            </a:r>
          </a:p>
          <a:p xmlns:a="http://schemas.openxmlformats.org/drawingml/2006/main">
            <a:r>
              <a:t>Dynamic masking code exists in the repository. The evidence run explicitly records ai_dynamic_masking as skipped.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most important credibility slide.</a:t>
            </a:r>
          </a:p>
          <a:p xmlns:a="http://schemas.openxmlformats.org/drawingml/2006/main">
            <a:r>
              <a:t>The report leaves one_metre_accuracy and checkpoint_rmse_3d_m null. State that directly.</a:t>
            </a:r>
          </a:p>
          <a:p xmlns:a="http://schemas.openxmlformats.org/drawingml/2006/main">
            <a:r>
              <a:t>The repository already implements the required validator. The missing work is independent field evidence, not software plumbing.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with a precise evidence plan instead of a broad claim.</a:t>
            </a:r>
          </a:p>
          <a:p xmlns:a="http://schemas.openxmlformats.org/drawingml/2006/main">
            <a:r>
              <a:t>The supplied archive contains the GLB, LAS, GeoTIFF, point cloud, mesh, reports, and logs. It does not contain an independent checkpoint CSV.</a:t>
            </a:r>
          </a:p>
          <a:p xmlns:a="http://schemas.openxmlformats.org/drawingml/2006/main">
            <a:r>
              <a:t>Production_ready is false in verification_report.json.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e3bd6788894a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e055cd0bc84a56" /><Relationship Type="http://schemas.openxmlformats.org/officeDocument/2006/relationships/slideLayout" Target="/ppt/slideLayouts/slideLayout1.xml" Id="Rbabee310c00f48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bee310c00f48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6a69bd3a034e27" /><Relationship Type="http://schemas.openxmlformats.org/officeDocument/2006/relationships/image" Target="/ppt/media/image.png" Id="R8cc2b28483334365" /><Relationship Type="http://schemas.openxmlformats.org/officeDocument/2006/relationships/notesSlide" Target="/ppt/notesSlides/notesSlide1.xml" Id="R258e596babd64c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14d00b968446eb" /><Relationship Type="http://schemas.openxmlformats.org/officeDocument/2006/relationships/image" Target="/ppt/media/image2.png" Id="R05be64a9e32144e5" /><Relationship Type="http://schemas.openxmlformats.org/officeDocument/2006/relationships/notesSlide" Target="/ppt/notesSlides/notesSlide2.xml" Id="R649d0eb70e0542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77347187e4752" /><Relationship Type="http://schemas.openxmlformats.org/officeDocument/2006/relationships/image" Target="/ppt/media/image3.png" Id="R87aa3c3045954f30" /><Relationship Type="http://schemas.openxmlformats.org/officeDocument/2006/relationships/notesSlide" Target="/ppt/notesSlides/notesSlide3.xml" Id="R889c56f31e1c42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8d15032b3744de" /><Relationship Type="http://schemas.openxmlformats.org/officeDocument/2006/relationships/chart" Target="/ppt/slides/charts/chart1.xml" Id="R0e22f2d1a5264844" /><Relationship Type="http://schemas.openxmlformats.org/officeDocument/2006/relationships/notesSlide" Target="/ppt/notesSlides/notesSlide4.xml" Id="R011633de9da748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600c16a79f4138" /><Relationship Type="http://schemas.openxmlformats.org/officeDocument/2006/relationships/image" Target="/ppt/media/image4.png" Id="Rdf4019d7873b4340" /><Relationship Type="http://schemas.openxmlformats.org/officeDocument/2006/relationships/notesSlide" Target="/ppt/notesSlides/notesSlide5.xml" Id="Rae9ceb4a67ab4f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61569ef0e24099" /><Relationship Type="http://schemas.openxmlformats.org/officeDocument/2006/relationships/notesSlide" Target="/ppt/notesSlides/notesSlide6.xml" Id="R346ca6aa5a3f41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a25b999da446b3" /><Relationship Type="http://schemas.openxmlformats.org/officeDocument/2006/relationships/notesSlide" Target="/ppt/notesSlides/notesSlide7.xml" Id="Rdf26094336de4fb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Runtime (minutes)</c:v>
          </c:tx>
          <c:spPr>
            <a:solidFill xmlns:a="http://schemas.openxmlformats.org/drawingml/2006/main">
              <a:srgbClr val="1769A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D88516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1BA6A6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4A8FC5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6FA6CF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9BBFD9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B7CCDB"/>
              </a:solidFill>
            </c:spPr>
          </c:dPt>
          <c:cat>
            <c:strLit>
              <c:ptCount val="6"/>
              <c:pt idx="0">
                <c:v>15-minute target</c:v>
              </c:pt>
              <c:pt idx="1">
                <c:v>Latest archived run</c:v>
              </c:pt>
              <c:pt idx="2">
                <c:v>Frontend optimization</c:v>
              </c:pt>
              <c:pt idx="3">
                <c:v>Geometry fast</c:v>
              </c:pt>
              <c:pt idx="4">
                <c:v>Controlled baseline</c:v>
              </c:pt>
              <c:pt idx="5">
                <c:v>Historical run</c:v>
              </c:pt>
            </c:strLit>
          </c:cat>
          <c:val>
            <c:numLit>
              <c:formatCode>0.00</c:formatCode>
              <c:ptCount val="6"/>
              <c:pt idx="0">
                <c:v>15</c:v>
              </c:pt>
              <c:pt idx="1">
                <c:v>28.81</c:v>
              </c:pt>
              <c:pt idx="2">
                <c:v>34.62</c:v>
              </c:pt>
              <c:pt idx="3">
                <c:v>52.62</c:v>
              </c:pt>
              <c:pt idx="4">
                <c:v>78.07</c:v>
              </c:pt>
              <c:pt idx="5">
                <c:v>80.75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3253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0E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526578"/>
                    </a:solidFill>
                    <a:latin typeface="Arial"/>
                    <a:ea typeface="Arial"/>
                    <a:cs typeface="Arial"/>
                  </a:rPr>
                  <a:t>Minutes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52657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7E0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E0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3253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c2b28483334365"/>
          <a:srcRect xmlns:a="http://schemas.openxmlformats.org/drawingml/2006/main" l="26624" t="0" r="266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3AF84-0B37-49CC-9C65-3C727BA9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66D9B4-A754-4504-BCA3-E2742F70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BA6A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BA6A6"/>
                </a:solidFill>
                <a:latin typeface="Arial"/>
                <a:ea typeface="Arial"/>
                <a:cs typeface="Arial"/>
              </a:rPr>
              <a:t>SIH26158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D0280E-2EFD-4CA8-A18E-8A3C23AF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Feasibility</a:t>
            </a:r>
          </a:p>
          <a:p xmlns:a="http://schemas.openxmlformats.org/drawingml/2006/main">
            <a:pPr algn="l">
              <a:defRPr sz="4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068584-0D31-4F1E-9F10-CCE3D622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995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C9D6E2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C9D6E2"/>
                </a:solidFill>
                <a:latin typeface="Arial"/>
                <a:ea typeface="Arial"/>
                <a:cs typeface="Arial"/>
              </a:rPr>
              <a:t>Single-pass drone video to georeferenced 3D and GIS products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7DFF90-006B-433C-8DC2-791E0D00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148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8FB12B-6B7B-4EC9-8464-4A379512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0125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Verified run: 4.2-minute video, 253 selected frames, CUDA on Tesla T4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6A22E5-5758-48FF-8D66-50786A74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007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8FA4B7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FA4B7"/>
                </a:solidFill>
                <a:latin typeface="Arial"/>
                <a:ea typeface="Arial"/>
                <a:cs typeface="Arial"/>
              </a:rPr>
              <a:t>Evidence date 14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21077644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60B45B-20EF-4D70-8F9F-F0E2CD0E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33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32536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32536"/>
                </a:solidFill>
                <a:latin typeface="Arial"/>
                <a:ea typeface="Arial"/>
                <a:cs typeface="Arial"/>
              </a:rPr>
              <a:t>One continuous flight produced a reproducible metric input 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040DC3-F63B-42DE-9ADD-52D4D180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6012BB-E22A-4F5E-ADBE-D14E10CB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be64a9e32144e5"/>
          <a:stretch xmlns:a="http://schemas.openxmlformats.org/drawingml/2006/main"/>
        </p:blipFill>
        <p:spPr>
          <a:xfrm xmlns:a="http://schemas.openxmlformats.org/drawingml/2006/main">
            <a:off x="609600" y="1672645"/>
            <a:ext cx="6667500" cy="236970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85F013-A77E-4A27-9FCC-BAB68271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4478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69AA"/>
                </a:solidFill>
                <a:latin typeface="Arial"/>
                <a:ea typeface="Arial"/>
                <a:cs typeface="Arial"/>
              </a:rPr>
              <a:t>4.19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8930C9-0AFA-4F69-BC18-6A5CE6B6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097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video duration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3B95E2-80CE-4866-9604-A63C9235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71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69AA"/>
                </a:solidFill>
                <a:latin typeface="Arial"/>
                <a:ea typeface="Arial"/>
                <a:cs typeface="Arial"/>
              </a:rPr>
              <a:t>7,538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6ECC95-16C4-48A5-AF2F-703CABA2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3372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source frames at 1920 x 1080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CF2C2D-B556-4AF1-82F1-CE0F8017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6957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69AA"/>
                </a:solidFill>
                <a:latin typeface="Arial"/>
                <a:ea typeface="Arial"/>
                <a:cs typeface="Arial"/>
              </a:rPr>
              <a:t>2,525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F1A190-C169-4368-AA59-1275576F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57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telemetry samples covering the video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8851AF-B56C-49A0-823D-4A31BFB3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E6A705-8271-4E8E-BB65-AEDE248C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3253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32536"/>
                </a:solidFill>
                <a:latin typeface="Arial"/>
                <a:ea typeface="Arial"/>
                <a:cs typeface="Arial"/>
              </a:rPr>
              <a:t>253 geometry-aware keyframes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05F9A3-7C2E-416B-90A5-5E8B1418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Selected at about 1 frame per second with 5.73 m median GPS baseline and 97.5% median tracked features.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639E70-9407-4B10-9699-7791D9FE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9339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865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865B"/>
                </a:solidFill>
                <a:latin typeface="Arial"/>
                <a:ea typeface="Arial"/>
                <a:cs typeface="Arial"/>
              </a:rPr>
              <a:t>Preflight ready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0976F0-7123-4837-9B90-8652F625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3149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464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COLMAP 4.2 with CUDA, NVIDIA T4 visible, telemetry valid, no timestamp reversals, gaps, or probable position jumps.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7B3F0E-D786-487A-A61F-B108F5AF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7D3D90-F85D-4C4C-AE7F-491EFBCD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Sources: input_summary.json, preflight.json, frames.selection.json</a:t>
            </a:r>
          </a:p>
        </p:txBody>
      </p:sp>
    </p:spTree>
    <p:extLst>
      <p:ext uri="{BB962C8B-B14F-4D97-AF65-F5344CB8AC3E}">
        <p14:creationId xmlns:p14="http://schemas.microsoft.com/office/powerpoint/2010/main" val="19867996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072A14-A66A-4A82-A241-A5EA9740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374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32536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32536"/>
                </a:solidFill>
                <a:latin typeface="Arial"/>
                <a:ea typeface="Arial"/>
                <a:cs typeface="Arial"/>
              </a:rPr>
              <a:t>The completed run exported valid 3D and GIS products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7B433D-0AE4-4921-9706-D69B0944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4D6071-5787-4B1B-9D58-C8545904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aa3c3045954f30"/>
          <a:stretch xmlns:a="http://schemas.openxmlformats.org/drawingml/2006/main"/>
        </p:blipFill>
        <p:spPr>
          <a:xfrm xmlns:a="http://schemas.openxmlformats.org/drawingml/2006/main">
            <a:off x="7035060" y="1257300"/>
            <a:ext cx="4370279" cy="4933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B0F432-6AEF-4C0D-97C4-AFDE8A8B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058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769AA"/>
                </a:solidFill>
                <a:latin typeface="Arial"/>
                <a:ea typeface="Arial"/>
                <a:cs typeface="Arial"/>
              </a:rPr>
              <a:t>604,982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2BD425-FA23-452B-B652-ED0961E5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filtered coloured points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FC0594-0AD8-43E2-BA5D-88A12FF4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4317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3253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32536"/>
                </a:solidFill>
                <a:latin typeface="Arial"/>
                <a:ea typeface="Arial"/>
                <a:cs typeface="Arial"/>
              </a:rPr>
              <a:t>181,314 vertices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0BB87E-BD33-454D-9B6F-5F60C24F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361,510 faces across 3 retained components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20E184-6ECD-4CD5-A4DA-F0FF92CC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14725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0C29AC-D2AD-4EFB-8DEE-BBF16DE6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3253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32536"/>
                </a:solidFill>
                <a:latin typeface="Arial"/>
                <a:ea typeface="Arial"/>
                <a:cs typeface="Arial"/>
              </a:rPr>
              <a:t>Verified deliverables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C1B72C-0E46-4B6B-8444-7D5B3C25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5429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32536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132536"/>
                </a:solidFill>
                <a:latin typeface="Courier New"/>
                <a:ea typeface="Courier New"/>
                <a:cs typeface="Courier New"/>
              </a:rPr>
              <a:t>model.glb     valid, textured, 1 mesh</a:t>
            </a:r>
          </a:p>
          <a:p xmlns:a="http://schemas.openxmlformats.org/drawingml/2006/main">
            <a:pPr algn="l">
              <a:defRPr sz="1350" b="0" i="0">
                <a:solidFill>
                  <a:srgbClr val="132536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132536"/>
                </a:solidFill>
                <a:latin typeface="Courier New"/>
                <a:ea typeface="Courier New"/>
                <a:cs typeface="Courier New"/>
              </a:rPr>
              <a:t>point_cloud.las     valid, EPSG:32610</a:t>
            </a:r>
          </a:p>
          <a:p xmlns:a="http://schemas.openxmlformats.org/drawingml/2006/main">
            <a:pPr algn="l">
              <a:defRPr sz="1350" b="0" i="0">
                <a:solidFill>
                  <a:srgbClr val="132536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132536"/>
                </a:solidFill>
                <a:latin typeface="Courier New"/>
                <a:ea typeface="Courier New"/>
                <a:cs typeface="Courier New"/>
              </a:rPr>
              <a:t>dsm.tif     valid, EPSG:32610, 0.5 m pixels</a:t>
            </a:r>
          </a:p>
          <a:p xmlns:a="http://schemas.openxmlformats.org/drawingml/2006/main">
            <a:pPr algn="l">
              <a:defRPr sz="1350" b="0" i="0">
                <a:solidFill>
                  <a:srgbClr val="132536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132536"/>
                </a:solidFill>
                <a:latin typeface="Courier New"/>
                <a:ea typeface="Courier New"/>
                <a:cs typeface="Courier New"/>
              </a:rPr>
              <a:t>model.obj and mesh.ply     present and valid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55C3CF-7BAD-43CC-9CFC-6837A138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05475"/>
            <a:ext cx="557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49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C5474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54747"/>
                </a:solidFill>
                <a:latin typeface="Arial"/>
                <a:ea typeface="Arial"/>
                <a:cs typeface="Arial"/>
              </a:rPr>
              <a:t>The DSM contains 111,476 valid cells. Its 13.84% coverage misses the current 75% production gate, so present it as output proof rather than complete-site coverage.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A178E3-981A-4A9B-BDD1-A6504AE5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84093D-C75C-4ED0-B0E6-026BD635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Sources: verification_report.json and run_report.json; DSM image from Full253 notebook output</a:t>
            </a:r>
          </a:p>
        </p:txBody>
      </p:sp>
    </p:spTree>
    <p:extLst>
      <p:ext uri="{BB962C8B-B14F-4D97-AF65-F5344CB8AC3E}">
        <p14:creationId xmlns:p14="http://schemas.microsoft.com/office/powerpoint/2010/main" val="15462033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03C899-D36A-45A7-8B11-3F85D75E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374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32536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32536"/>
                </a:solidFill>
                <a:latin typeface="Arial"/>
                <a:ea typeface="Arial"/>
                <a:cs typeface="Arial"/>
              </a:rPr>
              <a:t>Runtime optimization versus the 15-minute target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DBE92A-05AC-4A06-B5B0-F9060AF6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65786-78C5-42CF-8A56-782DEBAA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704850" y="1352550"/>
          <a:ext xmlns:a="http://schemas.openxmlformats.org/drawingml/2006/main" cx="7524750" cy="4457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e22f2d1a526484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A2D6D-DAB4-4B9E-BA53-C2B8EF3B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09725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BA6A6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BA6A6"/>
                </a:solidFill>
                <a:latin typeface="Arial"/>
                <a:ea typeface="Arial"/>
                <a:cs typeface="Arial"/>
              </a:rPr>
              <a:t>2.80x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5C526A-369D-4211-94FC-AFEBAEDD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38375"/>
            <a:ext cx="2686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speedup versus the 80.75-minute historical run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86241C-8C7C-46C4-87E9-618F887E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3850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32536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32536"/>
                </a:solidFill>
                <a:latin typeface="Arial"/>
                <a:ea typeface="Arial"/>
                <a:cs typeface="Arial"/>
              </a:rPr>
              <a:t>28.81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540590-9BE3-4892-9DEF-02B291A6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909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latest archived wall-clock result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41908B-6665-4D56-BD61-265D1A90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686300"/>
            <a:ext cx="2686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5474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C54747"/>
                </a:solidFill>
                <a:latin typeface="Arial"/>
                <a:ea typeface="Arial"/>
                <a:cs typeface="Arial"/>
              </a:rPr>
              <a:t>A further 47.9% reduction, or 1.92x speedup, is required to reach 15 minutes on this measured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94CF2D-0D14-4AF4-AF4F-87232104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827E27-4FA1-4022-AE05-EE5BF43B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Sources: Full253 and Frontend Sparse A/B notebook outputs; evidence run_report.json</a:t>
            </a:r>
          </a:p>
        </p:txBody>
      </p:sp>
    </p:spTree>
    <p:extLst>
      <p:ext uri="{BB962C8B-B14F-4D97-AF65-F5344CB8AC3E}">
        <p14:creationId xmlns:p14="http://schemas.microsoft.com/office/powerpoint/2010/main" val="1703066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4DE6B3-8678-4079-B949-4B9D6FAD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13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32536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32536"/>
                </a:solidFill>
                <a:latin typeface="Arial"/>
                <a:ea typeface="Arial"/>
                <a:cs typeface="Arial"/>
              </a:rPr>
              <a:t>Capture checks passed, while reconstruction quality remains mixed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C430B7-96CF-40B6-A21B-3EAC4591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822692-16E5-448C-9205-29829A10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4019d7873b4340"/>
          <a:stretch xmlns:a="http://schemas.openxmlformats.org/drawingml/2006/main"/>
        </p:blipFill>
        <p:spPr>
          <a:xfrm xmlns:a="http://schemas.openxmlformats.org/drawingml/2006/main">
            <a:off x="514350" y="1502704"/>
            <a:ext cx="6667500" cy="408119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971E55-58F1-4960-BC6F-E8AC0C1B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28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3253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32536"/>
                </a:solidFill>
                <a:latin typeface="Arial"/>
                <a:ea typeface="Arial"/>
                <a:cs typeface="Arial"/>
              </a:rPr>
              <a:t>Capture screen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285E50-46FB-425A-A33D-50462285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4287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11865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865B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CC3A1A-6371-44AD-A6FC-ED92F74E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5260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865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865B"/>
                </a:solidFill>
                <a:latin typeface="Arial"/>
                <a:ea typeface="Arial"/>
                <a:cs typeface="Arial"/>
              </a:rPr>
              <a:t>Passed all configured capture gates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F3960E-AC72-4A22-83F2-F938983C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76450"/>
            <a:ext cx="3905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0% blurred, 0% poor exposure, no telemetry gaps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70F1F5-D169-443A-935A-2D8A5718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146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3253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32536"/>
                </a:solidFill>
                <a:latin typeface="Arial"/>
                <a:ea typeface="Arial"/>
                <a:cs typeface="Arial"/>
              </a:rPr>
              <a:t>Reprojection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76CADC-2945-47A8-AB1C-3122DE95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1462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11865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865B"/>
                </a:solidFill>
                <a:latin typeface="Arial"/>
                <a:ea typeface="Arial"/>
                <a:cs typeface="Arial"/>
              </a:rPr>
              <a:t>0.458 px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E5AC85-FF3B-49F6-B4CB-3DC1CB82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38475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865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865B"/>
                </a:solidFill>
                <a:latin typeface="Arial"/>
                <a:ea typeface="Arial"/>
                <a:cs typeface="Arial"/>
              </a:rPr>
              <a:t>PASS against the 2 px gate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9BD883-D074-4CAA-BD43-CDD34517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62325"/>
            <a:ext cx="3905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Sparse model geometry is internally consistent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EE15C6-C141-4CE6-9D13-503EF57F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3253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32536"/>
                </a:solidFill>
                <a:latin typeface="Arial"/>
                <a:ea typeface="Arial"/>
                <a:cs typeface="Arial"/>
              </a:rPr>
              <a:t>Registration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745F8A-3BEC-4524-A95D-D4C843C9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C5474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54747"/>
                </a:solidFill>
                <a:latin typeface="Arial"/>
                <a:ea typeface="Arial"/>
                <a:cs typeface="Arial"/>
              </a:rPr>
              <a:t>81.82%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EACA48-FD23-4001-9DF8-9A44BF92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2435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5474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C54747"/>
                </a:solidFill>
                <a:latin typeface="Arial"/>
                <a:ea typeface="Arial"/>
                <a:cs typeface="Arial"/>
              </a:rPr>
              <a:t>FAIL against the 90% gate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9553A9-7D2B-456E-84F1-444DB36E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48200"/>
            <a:ext cx="3905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207 of 253 selected images registered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EB6282-6EEB-47E1-BD44-DADF1C9B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863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3253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32536"/>
                </a:solidFill>
                <a:latin typeface="Arial"/>
                <a:ea typeface="Arial"/>
                <a:cs typeface="Arial"/>
              </a:rPr>
              <a:t>AI masking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048A93-305A-4A08-9C71-78677ADF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2863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D8851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D88516"/>
                </a:solidFill>
                <a:latin typeface="Arial"/>
                <a:ea typeface="Arial"/>
                <a:cs typeface="Arial"/>
              </a:rPr>
              <a:t>SKIPPED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0628EC-8CCF-4DE1-AA77-335FEBD7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10225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8851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88516"/>
                </a:solidFill>
                <a:latin typeface="Arial"/>
                <a:ea typeface="Arial"/>
                <a:cs typeface="Arial"/>
              </a:rPr>
              <a:t>Capability exists but this run did not test 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3F4B22-FD32-4B5D-9D64-54C7B378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934075"/>
            <a:ext cx="3905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A masked versus unmasked proof image still needs a rerun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2A6610-6415-4E3E-A8BF-02E09222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FF857D-AD3F-4301-8C33-41444AEF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Sources: run_report.json, verification_report.json, reusable_run_assessment.json</a:t>
            </a:r>
          </a:p>
        </p:txBody>
      </p:sp>
    </p:spTree>
    <p:extLst>
      <p:ext uri="{BB962C8B-B14F-4D97-AF65-F5344CB8AC3E}">
        <p14:creationId xmlns:p14="http://schemas.microsoft.com/office/powerpoint/2010/main" val="4433373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B34B44-8FD2-4F19-A38C-45E98B6C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374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32536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32536"/>
                </a:solidFill>
                <a:latin typeface="Arial"/>
                <a:ea typeface="Arial"/>
                <a:cs typeface="Arial"/>
              </a:rPr>
              <a:t>One-metre surface accuracy remains unevaluated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51154D-6098-404F-A979-729E19A3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8E4F7C-6C35-4304-94EF-69954526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9A3742-61FF-4B81-8626-72FCDC44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438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4800" b="1" i="0">
                <a:solidFill>
                  <a:srgbClr val="D88516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D88516"/>
                </a:solidFill>
                <a:latin typeface="Arial"/>
                <a:ea typeface="Arial"/>
                <a:cs typeface="Arial"/>
              </a:rPr>
              <a:t>1.835 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083357-6E48-4712-964A-787A1F0F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3253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32536"/>
                </a:solidFill>
                <a:latin typeface="Arial"/>
                <a:ea typeface="Arial"/>
                <a:cs typeface="Arial"/>
              </a:rPr>
              <a:t>GPS camera-alignment RMSE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50CA58-2C85-49CC-9DC0-AB7715FC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4667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Diagnostic only. It compares reconstructed camera positions with flight GPS. It does not measure surface accuracy.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A077C-C512-4156-8E23-3D5DD76A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4619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8EA383-04F1-4A76-A278-05CBB84C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3253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32536"/>
                </a:solidFill>
                <a:latin typeface="Arial"/>
                <a:ea typeface="Arial"/>
                <a:cs typeface="Arial"/>
              </a:rPr>
              <a:t>Checkpoint RMSE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C74C48-D3F2-45AC-8770-4CE7A603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C54747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C54747"/>
                </a:solidFill>
                <a:latin typeface="Arial"/>
                <a:ea typeface="Arial"/>
                <a:cs typeface="Arial"/>
              </a:rPr>
              <a:t>NOT EVALUATED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69BD00-EBDA-4629-A9B0-EA074573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No independent checkpoint set or reference surface is included in the evidence bundle.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7A6D2C-E532-45F6-8C4F-8DE3A2D0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428750"/>
            <a:ext cx="9525" cy="461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E50293-0CD5-46B3-82CE-7833DFDF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52400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3253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32536"/>
                </a:solidFill>
                <a:latin typeface="Arial"/>
                <a:ea typeface="Arial"/>
                <a:cs typeface="Arial"/>
              </a:rPr>
              <a:t>Evidence required for the final claim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A4C5CB-00AD-47A5-B87F-88A8AEF4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336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BA6A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BA6A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D6096D-CF53-458A-A600-E864BC94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33600"/>
            <a:ext cx="4171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1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3253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32536"/>
                </a:solidFill>
                <a:latin typeface="Arial"/>
                <a:ea typeface="Arial"/>
                <a:cs typeface="Arial"/>
              </a:rPr>
              <a:t>Survey holdout points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2916BE-ADF7-4E86-82AB-75270968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57450"/>
            <a:ext cx="4171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559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Use at least three independent checkpoints for the project gate. Thirty points only satisfies the repository's checkpoint-count status.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06D8D6-CF2E-4B8B-8B3C-3A0042C2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051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BA6A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BA6A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FEECE0-B01E-473B-B6EF-064867EF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05150"/>
            <a:ext cx="4171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1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3253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32536"/>
                </a:solidFill>
                <a:latin typeface="Arial"/>
                <a:ea typeface="Arial"/>
                <a:cs typeface="Arial"/>
              </a:rPr>
              <a:t>Measure them in the reconstruction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9D1594-7599-46EF-82CC-F8C33F9E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29000"/>
            <a:ext cx="4171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Record reconstructed and surveyed XYZ in checkpoint_measurements.csv.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7B93A0-C482-4D57-8732-06FA42F3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767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BA6A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BA6A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74F6B6-A47C-4C5F-BCC8-114E60E6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76700"/>
            <a:ext cx="4171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1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3253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32536"/>
                </a:solidFill>
                <a:latin typeface="Arial"/>
                <a:ea typeface="Arial"/>
                <a:cs typeface="Arial"/>
              </a:rPr>
              <a:t>Run the existing validator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4C3678-A96E-43E9-9B5E-E3502E55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00550"/>
            <a:ext cx="4171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384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26578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526578"/>
                </a:solidFill>
                <a:latin typeface="Courier New"/>
                <a:ea typeface="Courier New"/>
                <a:cs typeface="Courier New"/>
              </a:rPr>
              <a:t>python -m sih_drone_pipeline validate-checkpoints --output &lt;run&gt; --checkpoints &lt;csv&gt;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0E85E4-A0EE-40B5-AA6C-C6BFD6B2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482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BA6A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BA6A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74DFB8-EBCE-46A6-A530-E0DE9950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048250"/>
            <a:ext cx="4171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1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3253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32536"/>
                </a:solidFill>
                <a:latin typeface="Arial"/>
                <a:ea typeface="Arial"/>
                <a:cs typeface="Arial"/>
              </a:rPr>
              <a:t>Show the numerical result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781655-8B1D-469E-82A9-0CE124A4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372100"/>
            <a:ext cx="4171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Present checkpoint 3D RMSE below 1.0 m, with the CSV and report retained as evidence.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3EB3D8-D540-4D2C-A341-58F12DF6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AAD86D-CF20-4F33-96FE-A8552680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Sources: verification_report.json and README accuracy-evidence protocol</a:t>
            </a:r>
          </a:p>
        </p:txBody>
      </p:sp>
    </p:spTree>
    <p:extLst>
      <p:ext uri="{BB962C8B-B14F-4D97-AF65-F5344CB8AC3E}">
        <p14:creationId xmlns:p14="http://schemas.microsoft.com/office/powerpoint/2010/main" val="20686330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DF4E44-2820-4B2B-A8DC-CDF60EA1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798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Final judging evidence pack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1C1AF3-3997-4655-81B0-CD2213B7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B6C6D4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B6C6D4"/>
                </a:solidFill>
                <a:latin typeface="Arial"/>
                <a:ea typeface="Arial"/>
                <a:cs typeface="Arial"/>
              </a:rPr>
              <a:t>Use these artifacts to convert technical feasibility into judge-ready proof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6E2244-DDD7-48BD-B238-84709ADA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BA6A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BA6A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FFAB48-E06E-489D-88C7-0609217D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95450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921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3D model and scale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F7E4F7-08F3-4AA3-90DD-37CFA4FE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95450"/>
            <a:ext cx="125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4D6A4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4D6A4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2F18A6-75FF-4628-8BDF-51D64D53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76400"/>
            <a:ext cx="556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5E0E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5E0E8"/>
                </a:solidFill>
                <a:latin typeface="Arial"/>
                <a:ea typeface="Arial"/>
                <a:cs typeface="Arial"/>
              </a:rPr>
              <a:t>The archive includes model.glb and viewer_metadata.json. Add your viewer capture and demonstrate Shift-click measurement live.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6BB778-A8C2-4994-8EC6-7270475D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1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50A729-3F38-4A5B-AAD9-2C733D5E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BA6A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BA6A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A6D2AA-4CBB-41F6-961B-4FCDBF53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71750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921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Independent &lt;1 m accuracy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9D7D97-C973-4303-A317-3DD18845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71750"/>
            <a:ext cx="125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7C7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7C7C"/>
                </a:solidFill>
                <a:latin typeface="Arial"/>
                <a:ea typeface="Arial"/>
                <a:cs typeface="Arial"/>
              </a:rPr>
              <a:t>MISSING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ACBA25-DC96-478F-BB0C-C5B33F5C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52700"/>
            <a:ext cx="556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5E0E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5E0E8"/>
                </a:solidFill>
                <a:latin typeface="Arial"/>
                <a:ea typeface="Arial"/>
                <a:cs typeface="Arial"/>
              </a:rPr>
              <a:t>Collect holdout checkpoints, run validate-checkpoints, and show the 3D RMSE from the generated report.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47F5D2-929C-40DB-A883-654BF9AE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1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5B58C1-1D10-4453-AA86-EE4D61D6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480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BA6A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BA6A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6D5630-6CBB-40CB-B860-8A0A1CD5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921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Runtime improvement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935EB6-BE9D-493D-A115-AFD02D58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448050"/>
            <a:ext cx="125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4D6A4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4D6A4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002A31-B2EA-4395-AFE8-D7F42BBF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29000"/>
            <a:ext cx="556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5E0E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5E0E8"/>
                </a:solidFill>
                <a:latin typeface="Arial"/>
                <a:ea typeface="Arial"/>
                <a:cs typeface="Arial"/>
              </a:rPr>
              <a:t>Use the editable runtime chart. State 28.81 minutes for the latest local evidence and 15 minutes as the remaining target.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76EDBE-DF52-4BAA-931E-131880E4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1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FA3F3D-48F5-43E7-BA99-33A72EE6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BA6A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BA6A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80E531-9972-4C10-85BC-FB5C03B1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24350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921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Dynamic-object robustness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3E39A0-A690-4221-ADEC-06961D65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324350"/>
            <a:ext cx="125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7C7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7C7C"/>
                </a:solidFill>
                <a:latin typeface="Arial"/>
                <a:ea typeface="Arial"/>
                <a:cs typeface="Arial"/>
              </a:rPr>
              <a:t>MISSING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5BBC10-2189-44CE-9241-C29BF04E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05300"/>
            <a:ext cx="556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5E0E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5E0E8"/>
                </a:solidFill>
                <a:latin typeface="Arial"/>
                <a:ea typeface="Arial"/>
                <a:cs typeface="Arial"/>
              </a:rPr>
              <a:t>Rerun with AI masking enabled and save one matched before-and-after frame plus its masked reconstruction result.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B9A2FD-F058-4DF7-B690-F21EF18E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1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AF9883-4778-412A-B46C-7C523A56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006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BA6A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BA6A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26DDD1-ED5C-44E2-8896-67EB82A1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00650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921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GIS interoperability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B47661-172D-4C21-A3D5-D92DDEB8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00650"/>
            <a:ext cx="125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4D6A4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4D6A4"/>
                </a:solidFill>
                <a:latin typeface="Arial"/>
                <a:ea typeface="Arial"/>
                <a:cs typeface="Arial"/>
              </a:rPr>
              <a:t>VERIFIED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D121A1-0808-46AD-886A-A3B3D476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81600"/>
            <a:ext cx="556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5E0E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5E0E8"/>
                </a:solidFill>
                <a:latin typeface="Arial"/>
                <a:ea typeface="Arial"/>
                <a:cs typeface="Arial"/>
              </a:rPr>
              <a:t>Show dsm.tif in QGIS and point_cloud.las in CloudCompare. Both formats and EPSG:32610 metadata passed structural checks.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BA72A8-B300-4023-A34D-8BEFEB1F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1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6E3C54-C320-4D72-9720-4B12F6BB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BA6A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BA6A6"/>
                </a:solidFill>
                <a:latin typeface="Arial"/>
                <a:ea typeface="Arial"/>
                <a:cs typeface="Arial"/>
              </a:rPr>
              <a:t>Current conclusion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77CDF8-0111-4E77-8A08-661FD431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6029325"/>
            <a:ext cx="8820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1162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End-to-end output generation is feasible. The speed and one-metre acceptance targets still require stronger evidence.</a:t>
            </a:r>
          </a:p>
        </p:txBody>
      </p:sp>
    </p:spTree>
    <p:extLst>
      <p:ext uri="{BB962C8B-B14F-4D97-AF65-F5344CB8AC3E}">
        <p14:creationId xmlns:p14="http://schemas.microsoft.com/office/powerpoint/2010/main" val="19158228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2026-09-15T04:53:57.7570000Z</dcterms:created>
  <dcterms:modified xsi:type="dcterms:W3CDTF">2026-09-15T04:53:57.7570000Z</dcterms:modified>
</coreProperties>
</file>